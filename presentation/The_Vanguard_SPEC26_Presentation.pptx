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2" r:id="rId13"/>
    <p:sldId id="263" r:id="rId14"/>
    <p:sldId id="264" r:id="rId15"/>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E5EDF6"/>
                </a:solidFill>
                <a:latin typeface="Aptos"/>
              </a:rPr>
              <a:t>Post-route Fmax over 5 placement seeds (MHz)</a:t>
            </a:r>
          </a:p>
        </c:rich>
      </c:tx>
      <c:layout/>
      <c:overlay val="0"/>
    </c:title>
    <c:autoTitleDeleted val="0"/>
    <c:plotArea>
      <c:barChart>
        <c:barDir val="col"/>
        <c:grouping val="clustered"/>
        <c:ser>
          <c:idx val="0"/>
          <c:order val="0"/>
          <c:tx>
            <c:strRef>
              <c:f>Sheet1!$B$1</c:f>
              <c:strCache>
                <c:ptCount val="1"/>
                <c:pt idx="0">
                  <c:v>Fmax (MHz)</c:v>
                </c:pt>
              </c:strCache>
            </c:strRef>
          </c:tx>
          <c:dPt>
            <c:idx val="0"/>
            <c:spPr>
              <a:solidFill>
                <a:srgbClr val="F5B942"/>
              </a:solidFill>
            </c:spPr>
          </c:dPt>
          <c:dPt>
            <c:idx val="1"/>
            <c:spPr>
              <a:solidFill>
                <a:srgbClr val="50C8D2"/>
              </a:solidFill>
            </c:spPr>
          </c:dPt>
          <c:dPt>
            <c:idx val="2"/>
            <c:spPr>
              <a:solidFill>
                <a:srgbClr val="50C8D2"/>
              </a:solidFill>
            </c:spPr>
          </c:dPt>
          <c:dPt>
            <c:idx val="3"/>
            <c:spPr>
              <a:solidFill>
                <a:srgbClr val="50C8D2"/>
              </a:solidFill>
            </c:spPr>
          </c:dPt>
          <c:dPt>
            <c:idx val="4"/>
            <c:spPr>
              <a:solidFill>
                <a:srgbClr val="50C8D2"/>
              </a:solidFill>
            </c:spPr>
          </c:dPt>
          <c:dPt>
            <c:idx val="5"/>
            <c:spPr>
              <a:solidFill>
                <a:srgbClr val="50C8D2"/>
              </a:solidFill>
            </c:spPr>
          </c:dPt>
          <c:cat>
            <c:strRef>
              <c:f>Sheet1!$A$2:$A$7</c:f>
              <c:strCache>
                <c:ptCount val="6"/>
                <c:pt idx="0">
                  <c:v>Required</c:v>
                </c:pt>
                <c:pt idx="1">
                  <c:v>Seed 1</c:v>
                </c:pt>
                <c:pt idx="2">
                  <c:v>Seed 2</c:v>
                </c:pt>
                <c:pt idx="3">
                  <c:v>Seed 3</c:v>
                </c:pt>
                <c:pt idx="4">
                  <c:v>Seed 4</c:v>
                </c:pt>
                <c:pt idx="5">
                  <c:v>Seed 5</c:v>
                </c:pt>
              </c:strCache>
            </c:strRef>
          </c:cat>
          <c:val>
            <c:numRef>
              <c:f>Sheet1!$B$2:$B$7</c:f>
              <c:numCache>
                <c:formatCode>General</c:formatCode>
                <c:ptCount val="6"/>
                <c:pt idx="0">
                  <c:v>50</c:v>
                </c:pt>
                <c:pt idx="1">
                  <c:v>69.87</c:v>
                </c:pt>
                <c:pt idx="2">
                  <c:v>73.66</c:v>
                </c:pt>
                <c:pt idx="3">
                  <c:v>76.85</c:v>
                </c:pt>
                <c:pt idx="4">
                  <c:v>80.18</c:v>
                </c:pt>
                <c:pt idx="5">
                  <c:v>75.41</c:v>
                </c:pt>
              </c:numCache>
            </c:numRef>
          </c:val>
        </c:ser>
        <c:dLbls>
          <c:numFmt formatCode="0.0" sourceLinked="0"/>
          <c:txPr>
            <a:bodyPr/>
            <a:lstStyle/>
            <a:p>
              <a:pPr>
                <a:defRPr sz="1100" b="1">
                  <a:solidFill>
                    <a:srgbClr val="F8FAFC"/>
                  </a:solidFill>
                  <a:latin typeface="Aptos"/>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2A3F5F"/>
            </a:solidFill>
          </a:ln>
        </c:spPr>
        <c:txPr>
          <a:bodyPr/>
          <a:lstStyle/>
          <a:p>
            <a:pPr>
              <a:defRPr sz="1100">
                <a:solidFill>
                  <a:srgbClr val="B4C4D6"/>
                </a:solidFill>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2A3F5F"/>
              </a:solidFill>
            </a:ln>
          </c:spPr>
        </c:majorGridlines>
        <c:majorTickMark val="out"/>
        <c:minorTickMark val="none"/>
        <c:tickLblPos val="nextTo"/>
        <c:spPr>
          <a:ln>
            <a:solidFill>
              <a:srgbClr val="2A3F5F"/>
            </a:solidFill>
          </a:ln>
        </c:spPr>
        <c:txPr>
          <a:bodyPr/>
          <a:lstStyle/>
          <a:p>
            <a:pPr>
              <a:defRPr sz="1100">
                <a:solidFill>
                  <a:srgbClr val="B4C4D6"/>
                </a:solidFill>
              </a:defRPr>
            </a:pPr>
          </a:p>
        </c:txPr>
        <c:crossAx val="-2068027336"/>
        <c:crosses val="autoZero"/>
        <c:majorUnit val="20.0"/>
      </c:valAx>
      <c:spPr>
        <a:noFill/>
      </c:spPr>
    </c:plotArea>
    <c:dispBlanksAs val="gap"/>
  </c:chart>
  <c:spPr>
    <a:noFill/>
    <a:ln>
      <a:noFill/>
    </a:ln>
  </c:spPr>
  <c:txPr>
    <a:bodyPr/>
    <a:lstStyle/>
    <a:p>
      <a:pPr>
        <a:defRPr sz="1100">
          <a:solidFill>
            <a:srgbClr val="E5EDF6"/>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(30 s). Assalam-o-Alaikum, respected judges. We are Team The Vanguard from NED University. A satellite sends a continuous stream of bits. Our job is to find where each message starts, even when noise flips bits and the stream begins at a random position. Today we will show a complete solution: a Python model, a hardware design in Verilog with a self-checking testbench, and FPGA synthesis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(45 s). Every frame starts with a known 32-bit marker, 0x1ACFFC1D. The receiver slides a 32-bit window one bit at a time, because we cannot assume byte alignment. If we demand all 32 bits match, one noisy bit makes us miss a frame. If we accept too many mismatches, random data looks like a marker: a false alarm. In Level 1 we accept a candidate when at least 28 of 32 bits match. The core challenge: detect the marker, avoid false alarms, and trust the data only after the frame checks pass.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JUNIOR (45 s). Four steps. One: generate frames: 4-byte marker, then a 64-byte frame with a 6-byte header, 56-byte data field and 2-byte CRC. Two: simulate the channel with BPSK and Gaussian noise. Three: hard decisions, then search every bit position for 28 of 32 matches. Four: validate header and CRC, and only then decode telemetry. 73 random bits at the start prove we do not assume alignment. This is a software model: no RF modem, no error correction.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JUNIOR (60 s). At 8 dB Eb/N0, seed 2026, the measured bit error rate was 0.000168, close to the theoretical 0.000191. We found 120 of 120 markers with one false candidate position. 110 of 120 frames passed the CRC. Why not 120? One wrong bit among 512 fails the CRC, while the marker only needs 28 of 32. Marker detection survives noise better than full frame recovery. Lower threshold: more markers but more false alarms. For 28 of 32 theory predicts about 9.7 false alarms per million positions.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JUNIOR (60 s). Open walkthrough.html first: change the noise, show the marker and the recovered telemetry. Then in the terminal: py -m unittest -v test_phase1.py (7 tests OK) and py ccsds_phase1.py (120/120, 1 false, 110/120). Say: here are the seven automated tests, and here is the simulation reproducing the numbers on the slide. Backup: screenshots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CLASSMATE (60 s). For Level 2 we wrote synthesizable Verilog. Each clock one bit enters a 32-bit shift register. A registered adder tree counts how many bits differ from the marker. The state machine uses different tolerances: strict while searching blindly (at most 2 wrong bits), 4 to verify, and 6 once locked at the known position. This keeps false locks rare but survives noise. It also detects the inverted marker 0xE53003E2 and corrects the data (180-degree ambiguity). A window of plus or minus 4 bits around the expected position re-aligns after a bit slip without searching again. It extracts frames, decodes the header, checks the CRC and counts frames per virtual channel. One bit per clock at 50 MHz is 50 megabits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CLASSMATE (60 s). We verify the RTL against a bit-exact Python golden model. The testbench compares every output frame byte by byte, plus flags, virtual channel and counters. 16 scenarios, all passing: errors up to 10 percent, inserted and deleted bits, inverted polarity, a burst of garbage, random clock gaps, the real 1115-byte frame length, and the two bit streams from our own Level 1 model. We injected four deliberate bugs into the RTL and the testbench caught all four. In the waveform the state goes SEARCH, CHECK, LOCK; when a bit is deleted the slip counter increments and the receiver stays locked. One bit slip costs about 1 frame with the slip window versus about 4.5 frames and a full re-search without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(45 s). For Level 3 we synthesized with the open-source Yosys and nextpnr flow for a low-cost Lattice iCE40 HX8K, using the real 1115-byte frame length. 909 logic cells, 11 percent of the device. Post-route maximum clock between 69.9 and 80.2 MHz across five placement seeds, so the 50 MHz requirement is met. A Xilinx 7-series mapping estimate is about 750 LUTs and 357 flip-flops. We also include a Vivado script. To be clear: these timing numbers come from the open-source flow, not from Vivado.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(45 s). To be honest about scope: hard decisions only, fixed frame length per build, no physical board, RF front end or error-correction decoder. Tolerances were chosen by our own simulation study, not copied from the standard. In one line: we scan every bit, we verify before we trust, we survive bit slips, and we prove it with an automatic testbench. Thank you,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Rectangle 1"/>
          <p:cNvSpPr/>
          <p:nvPr/>
        </p:nvSpPr>
        <p:spPr>
          <a:xfrm>
            <a:off x="0" y="0"/>
            <a:ext cx="146304" cy="6858000"/>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2"/>
          <p:cNvSpPr/>
          <p:nvPr/>
        </p:nvSpPr>
        <p:spPr>
          <a:xfrm>
            <a:off x="713232" y="713232"/>
            <a:ext cx="1417320" cy="347472"/>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3"/>
          <p:cNvSpPr txBox="1"/>
          <p:nvPr/>
        </p:nvSpPr>
        <p:spPr>
          <a:xfrm>
            <a:off x="786384" y="763524"/>
            <a:ext cx="1271016" cy="228600"/>
          </a:xfrm>
          <a:prstGeom prst="rect">
            <a:avLst/>
          </a:prstGeom>
          <a:noFill/>
        </p:spPr>
        <p:txBody>
          <a:bodyPr wrap="square" lIns="45720" rIns="45720" anchor="ctr">
            <a:spAutoFit/>
          </a:bodyPr>
          <a:lstStyle/>
          <a:p>
            <a:pPr algn="ctr"/>
            <a:r>
              <a:rPr sz="1000" b="1">
                <a:solidFill>
                  <a:srgbClr val="F8FAFC"/>
                </a:solidFill>
                <a:latin typeface="Aptos"/>
              </a:rPr>
              <a:t>SPEC'26  •  NEDUET</a:t>
            </a:r>
          </a:p>
        </p:txBody>
      </p:sp>
      <p:sp>
        <p:nvSpPr>
          <p:cNvPr id="6" name="TextBox 4"/>
          <p:cNvSpPr txBox="1"/>
          <p:nvPr/>
        </p:nvSpPr>
        <p:spPr>
          <a:xfrm>
            <a:off x="713232" y="1444752"/>
            <a:ext cx="10424160" cy="1280160"/>
          </a:xfrm>
          <a:prstGeom prst="rect">
            <a:avLst/>
          </a:prstGeom>
          <a:noFill/>
        </p:spPr>
        <p:txBody>
          <a:bodyPr wrap="square" lIns="45720" rIns="45720" anchor="t">
            <a:spAutoFit/>
          </a:bodyPr>
          <a:lstStyle/>
          <a:p>
            <a:pPr algn="l"/>
            <a:r>
              <a:rPr sz="3400" b="1">
                <a:solidFill>
                  <a:srgbClr val="F8FAFC"/>
                </a:solidFill>
                <a:latin typeface="Aptos"/>
              </a:rPr>
              <a:t>CCSDS TELEMETRY
FRAME SYNCHRONIZER</a:t>
            </a:r>
          </a:p>
        </p:txBody>
      </p:sp>
      <p:sp>
        <p:nvSpPr>
          <p:cNvPr id="7" name="TextBox 5"/>
          <p:cNvSpPr txBox="1"/>
          <p:nvPr/>
        </p:nvSpPr>
        <p:spPr>
          <a:xfrm>
            <a:off x="749808" y="3657600"/>
            <a:ext cx="9784080" cy="502920"/>
          </a:xfrm>
          <a:prstGeom prst="rect">
            <a:avLst/>
          </a:prstGeom>
          <a:noFill/>
        </p:spPr>
        <p:txBody>
          <a:bodyPr wrap="square" lIns="45720" rIns="45720" anchor="t">
            <a:spAutoFit/>
          </a:bodyPr>
          <a:lstStyle/>
          <a:p>
            <a:pPr algn="l"/>
            <a:r>
              <a:rPr sz="2000" b="0">
                <a:solidFill>
                  <a:srgbClr val="B4C4D6"/>
                </a:solidFill>
                <a:latin typeface="Aptos"/>
              </a:rPr>
              <a:t>Finding frame boundaries in a noisy serial bit stream</a:t>
            </a:r>
          </a:p>
        </p:txBody>
      </p:sp>
      <p:sp>
        <p:nvSpPr>
          <p:cNvPr id="8" name="Rounded Rectangle 6"/>
          <p:cNvSpPr/>
          <p:nvPr/>
        </p:nvSpPr>
        <p:spPr>
          <a:xfrm>
            <a:off x="731520" y="4526280"/>
            <a:ext cx="5394960" cy="105156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7"/>
          <p:cNvSpPr txBox="1"/>
          <p:nvPr/>
        </p:nvSpPr>
        <p:spPr>
          <a:xfrm>
            <a:off x="987552" y="4736592"/>
            <a:ext cx="4892040" cy="274320"/>
          </a:xfrm>
          <a:prstGeom prst="rect">
            <a:avLst/>
          </a:prstGeom>
          <a:noFill/>
        </p:spPr>
        <p:txBody>
          <a:bodyPr wrap="square" lIns="45720" rIns="45720" anchor="t">
            <a:spAutoFit/>
          </a:bodyPr>
          <a:lstStyle/>
          <a:p>
            <a:pPr algn="l"/>
            <a:r>
              <a:rPr sz="1300" b="1">
                <a:solidFill>
                  <a:srgbClr val="50C8D2"/>
                </a:solidFill>
                <a:latin typeface="Aptos"/>
              </a:rPr>
              <a:t>LEVELS 1–3  •  MODEL + RTL + FPGA</a:t>
            </a:r>
          </a:p>
        </p:txBody>
      </p:sp>
      <p:sp>
        <p:nvSpPr>
          <p:cNvPr id="10" name="TextBox 8"/>
          <p:cNvSpPr txBox="1"/>
          <p:nvPr/>
        </p:nvSpPr>
        <p:spPr>
          <a:xfrm>
            <a:off x="987552" y="5074920"/>
            <a:ext cx="4892040" cy="256032"/>
          </a:xfrm>
          <a:prstGeom prst="rect">
            <a:avLst/>
          </a:prstGeom>
          <a:noFill/>
        </p:spPr>
        <p:txBody>
          <a:bodyPr wrap="square" lIns="45720" rIns="45720" anchor="t">
            <a:spAutoFit/>
          </a:bodyPr>
          <a:lstStyle/>
          <a:p>
            <a:pPr algn="l"/>
            <a:r>
              <a:rPr sz="1100" b="0">
                <a:solidFill>
                  <a:srgbClr val="E5EDF6"/>
                </a:solidFill>
                <a:latin typeface="Aptos"/>
              </a:rPr>
              <a:t>Python model • Verilog RTL • FPGA synthesis</a:t>
            </a:r>
          </a:p>
        </p:txBody>
      </p:sp>
      <p:sp>
        <p:nvSpPr>
          <p:cNvPr id="11" name="TextBox 9"/>
          <p:cNvSpPr txBox="1"/>
          <p:nvPr/>
        </p:nvSpPr>
        <p:spPr>
          <a:xfrm>
            <a:off x="749808" y="6236208"/>
            <a:ext cx="7315200" cy="256032"/>
          </a:xfrm>
          <a:prstGeom prst="rect">
            <a:avLst/>
          </a:prstGeom>
          <a:noFill/>
        </p:spPr>
        <p:txBody>
          <a:bodyPr wrap="square" lIns="45720" rIns="45720" anchor="t">
            <a:spAutoFit/>
          </a:bodyPr>
          <a:lstStyle/>
          <a:p>
            <a:pPr algn="l"/>
            <a:r>
              <a:rPr sz="1100" b="1">
                <a:solidFill>
                  <a:srgbClr val="F5B942"/>
                </a:solidFill>
                <a:latin typeface="Aptos"/>
              </a:rPr>
              <a:t>Team: The Vanguard</a:t>
            </a:r>
          </a:p>
        </p:txBody>
      </p:sp>
      <p:sp>
        <p:nvSpPr>
          <p:cNvPr id="12" name="TextBox 10"/>
          <p:cNvSpPr txBox="1"/>
          <p:nvPr/>
        </p:nvSpPr>
        <p:spPr>
          <a:xfrm>
            <a:off x="7315200" y="4297680"/>
            <a:ext cx="4206240" cy="274320"/>
          </a:xfrm>
          <a:prstGeom prst="rect">
            <a:avLst/>
          </a:prstGeom>
          <a:noFill/>
        </p:spPr>
        <p:txBody>
          <a:bodyPr wrap="square" lIns="45720" rIns="45720" anchor="t">
            <a:spAutoFit/>
          </a:bodyPr>
          <a:lstStyle/>
          <a:p>
            <a:pPr algn="ctr"/>
            <a:r>
              <a:rPr sz="1100" b="1">
                <a:solidFill>
                  <a:srgbClr val="B4C4D6"/>
                </a:solidFill>
                <a:latin typeface="Aptos"/>
              </a:rPr>
              <a:t>CONTINUOUS STREAM</a:t>
            </a:r>
          </a:p>
        </p:txBody>
      </p:sp>
      <p:sp>
        <p:nvSpPr>
          <p:cNvPr id="13" name="Rounded Rectangle 11"/>
          <p:cNvSpPr/>
          <p:nvPr/>
        </p:nvSpPr>
        <p:spPr>
          <a:xfrm>
            <a:off x="6903720" y="4800600"/>
            <a:ext cx="987552" cy="603504"/>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2"/>
          <p:cNvSpPr txBox="1"/>
          <p:nvPr/>
        </p:nvSpPr>
        <p:spPr>
          <a:xfrm>
            <a:off x="6940296" y="4965192"/>
            <a:ext cx="914400" cy="228600"/>
          </a:xfrm>
          <a:prstGeom prst="rect">
            <a:avLst/>
          </a:prstGeom>
          <a:noFill/>
        </p:spPr>
        <p:txBody>
          <a:bodyPr wrap="square" lIns="45720" rIns="45720" anchor="t">
            <a:spAutoFit/>
          </a:bodyPr>
          <a:lstStyle/>
          <a:p>
            <a:pPr algn="ctr"/>
            <a:r>
              <a:rPr sz="1200" b="1">
                <a:solidFill>
                  <a:srgbClr val="F8FAFC"/>
                </a:solidFill>
                <a:latin typeface="Aptos"/>
              </a:rPr>
              <a:t>noise</a:t>
            </a:r>
          </a:p>
        </p:txBody>
      </p:sp>
      <p:sp>
        <p:nvSpPr>
          <p:cNvPr id="15" name="Rounded Rectangle 13"/>
          <p:cNvSpPr/>
          <p:nvPr/>
        </p:nvSpPr>
        <p:spPr>
          <a:xfrm>
            <a:off x="8028431" y="4800600"/>
            <a:ext cx="987552" cy="603504"/>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4"/>
          <p:cNvSpPr txBox="1"/>
          <p:nvPr/>
        </p:nvSpPr>
        <p:spPr>
          <a:xfrm>
            <a:off x="8065007" y="4965192"/>
            <a:ext cx="914400" cy="228600"/>
          </a:xfrm>
          <a:prstGeom prst="rect">
            <a:avLst/>
          </a:prstGeom>
          <a:noFill/>
        </p:spPr>
        <p:txBody>
          <a:bodyPr wrap="square" lIns="45720" rIns="45720" anchor="t">
            <a:spAutoFit/>
          </a:bodyPr>
          <a:lstStyle/>
          <a:p>
            <a:pPr algn="ctr"/>
            <a:r>
              <a:rPr sz="1200" b="1">
                <a:solidFill>
                  <a:srgbClr val="F8FAFC"/>
                </a:solidFill>
                <a:latin typeface="Aptos"/>
              </a:rPr>
              <a:t>ASM</a:t>
            </a:r>
          </a:p>
        </p:txBody>
      </p:sp>
      <p:sp>
        <p:nvSpPr>
          <p:cNvPr id="17" name="Rounded Rectangle 15"/>
          <p:cNvSpPr/>
          <p:nvPr/>
        </p:nvSpPr>
        <p:spPr>
          <a:xfrm>
            <a:off x="9153144" y="4800600"/>
            <a:ext cx="987552" cy="603504"/>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6"/>
          <p:cNvSpPr txBox="1"/>
          <p:nvPr/>
        </p:nvSpPr>
        <p:spPr>
          <a:xfrm>
            <a:off x="9189719" y="4965192"/>
            <a:ext cx="914400" cy="228600"/>
          </a:xfrm>
          <a:prstGeom prst="rect">
            <a:avLst/>
          </a:prstGeom>
          <a:noFill/>
        </p:spPr>
        <p:txBody>
          <a:bodyPr wrap="square" lIns="45720" rIns="45720" anchor="t">
            <a:spAutoFit/>
          </a:bodyPr>
          <a:lstStyle/>
          <a:p>
            <a:pPr algn="ctr"/>
            <a:r>
              <a:rPr sz="1200" b="1">
                <a:solidFill>
                  <a:srgbClr val="F8FAFC"/>
                </a:solidFill>
                <a:latin typeface="Aptos"/>
              </a:rPr>
              <a:t>frame</a:t>
            </a:r>
          </a:p>
        </p:txBody>
      </p:sp>
      <p:sp>
        <p:nvSpPr>
          <p:cNvPr id="19" name="Rounded Rectangle 17"/>
          <p:cNvSpPr/>
          <p:nvPr/>
        </p:nvSpPr>
        <p:spPr>
          <a:xfrm>
            <a:off x="10277856" y="4800600"/>
            <a:ext cx="987552" cy="603504"/>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8"/>
          <p:cNvSpPr txBox="1"/>
          <p:nvPr/>
        </p:nvSpPr>
        <p:spPr>
          <a:xfrm>
            <a:off x="10314432" y="4965192"/>
            <a:ext cx="914400" cy="228600"/>
          </a:xfrm>
          <a:prstGeom prst="rect">
            <a:avLst/>
          </a:prstGeom>
          <a:noFill/>
        </p:spPr>
        <p:txBody>
          <a:bodyPr wrap="square" lIns="45720" rIns="45720" anchor="t">
            <a:spAutoFit/>
          </a:bodyPr>
          <a:lstStyle/>
          <a:p>
            <a:pPr algn="ctr"/>
            <a:r>
              <a:rPr sz="1200" b="1">
                <a:solidFill>
                  <a:srgbClr val="F8FAFC"/>
                </a:solidFill>
                <a:latin typeface="Aptos"/>
              </a:rPr>
              <a:t>ASM</a:t>
            </a:r>
          </a:p>
        </p:txBody>
      </p:sp>
      <p:sp>
        <p:nvSpPr>
          <p:cNvPr id="21" name="TextBox 19"/>
          <p:cNvSpPr txBox="1"/>
          <p:nvPr/>
        </p:nvSpPr>
        <p:spPr>
          <a:xfrm>
            <a:off x="6995160" y="5559552"/>
            <a:ext cx="4480560" cy="384048"/>
          </a:xfrm>
          <a:prstGeom prst="rect">
            <a:avLst/>
          </a:prstGeom>
          <a:noFill/>
        </p:spPr>
        <p:txBody>
          <a:bodyPr wrap="square" lIns="45720" rIns="45720" anchor="t">
            <a:spAutoFit/>
          </a:bodyPr>
          <a:lstStyle/>
          <a:p>
            <a:pPr algn="ctr"/>
            <a:r>
              <a:rPr sz="1400" b="1">
                <a:solidFill>
                  <a:srgbClr val="50C8D2"/>
                </a:solidFill>
                <a:latin typeface="Aptos"/>
              </a:rPr>
              <a:t>Detect  →  verify  →  recover</a:t>
            </a:r>
          </a:p>
        </p:txBody>
      </p:sp>
      <p:sp>
        <p:nvSpPr>
          <p:cNvPr id="22" name="TextBox 20"/>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23" name="TextBox 21"/>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01 / PROBLEM</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The receiver sees bits — not message boundaries</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Noise can flip bits, and the stream may begin at any bit offset.</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5"/>
          <p:cNvSpPr/>
          <p:nvPr/>
        </p:nvSpPr>
        <p:spPr>
          <a:xfrm>
            <a:off x="640080" y="1828800"/>
            <a:ext cx="10927080" cy="105156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6"/>
          <p:cNvSpPr/>
          <p:nvPr/>
        </p:nvSpPr>
        <p:spPr>
          <a:xfrm>
            <a:off x="822960" y="2048256"/>
            <a:ext cx="1325880" cy="59436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7"/>
          <p:cNvSpPr txBox="1"/>
          <p:nvPr/>
        </p:nvSpPr>
        <p:spPr>
          <a:xfrm>
            <a:off x="859536" y="2167128"/>
            <a:ext cx="1252728" cy="310896"/>
          </a:xfrm>
          <a:prstGeom prst="rect">
            <a:avLst/>
          </a:prstGeom>
          <a:noFill/>
        </p:spPr>
        <p:txBody>
          <a:bodyPr wrap="square" lIns="45720" rIns="45720" anchor="ctr">
            <a:spAutoFit/>
          </a:bodyPr>
          <a:lstStyle/>
          <a:p>
            <a:pPr algn="ctr"/>
            <a:r>
              <a:rPr sz="1100" b="1">
                <a:solidFill>
                  <a:srgbClr val="F8FAFC"/>
                </a:solidFill>
                <a:latin typeface="Aptos"/>
              </a:rPr>
              <a:t>random prefix</a:t>
            </a:r>
          </a:p>
        </p:txBody>
      </p:sp>
      <p:sp>
        <p:nvSpPr>
          <p:cNvPr id="10" name="Rounded Rectangle 8"/>
          <p:cNvSpPr/>
          <p:nvPr/>
        </p:nvSpPr>
        <p:spPr>
          <a:xfrm>
            <a:off x="2276856" y="2048256"/>
            <a:ext cx="1371600" cy="594360"/>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9"/>
          <p:cNvSpPr txBox="1"/>
          <p:nvPr/>
        </p:nvSpPr>
        <p:spPr>
          <a:xfrm>
            <a:off x="2313432" y="2167128"/>
            <a:ext cx="1298448" cy="310896"/>
          </a:xfrm>
          <a:prstGeom prst="rect">
            <a:avLst/>
          </a:prstGeom>
          <a:noFill/>
        </p:spPr>
        <p:txBody>
          <a:bodyPr wrap="square" lIns="45720" rIns="45720" anchor="ctr">
            <a:spAutoFit/>
          </a:bodyPr>
          <a:lstStyle/>
          <a:p>
            <a:pPr algn="ctr"/>
            <a:r>
              <a:rPr sz="1100" b="1">
                <a:solidFill>
                  <a:srgbClr val="F8FAFC"/>
                </a:solidFill>
                <a:latin typeface="Aptos"/>
              </a:rPr>
              <a:t>ASM
32 bits</a:t>
            </a:r>
          </a:p>
        </p:txBody>
      </p:sp>
      <p:sp>
        <p:nvSpPr>
          <p:cNvPr id="12" name="Rounded Rectangle 10"/>
          <p:cNvSpPr/>
          <p:nvPr/>
        </p:nvSpPr>
        <p:spPr>
          <a:xfrm>
            <a:off x="3776472" y="2048256"/>
            <a:ext cx="2194560" cy="594360"/>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1"/>
          <p:cNvSpPr txBox="1"/>
          <p:nvPr/>
        </p:nvSpPr>
        <p:spPr>
          <a:xfrm>
            <a:off x="3813048" y="2167128"/>
            <a:ext cx="2121408" cy="310896"/>
          </a:xfrm>
          <a:prstGeom prst="rect">
            <a:avLst/>
          </a:prstGeom>
          <a:noFill/>
        </p:spPr>
        <p:txBody>
          <a:bodyPr wrap="square" lIns="45720" rIns="45720" anchor="ctr">
            <a:spAutoFit/>
          </a:bodyPr>
          <a:lstStyle/>
          <a:p>
            <a:pPr algn="ctr"/>
            <a:r>
              <a:rPr sz="1100" b="1">
                <a:solidFill>
                  <a:srgbClr val="F8FAFC"/>
                </a:solidFill>
                <a:latin typeface="Aptos"/>
              </a:rPr>
              <a:t>TM frame
512 bits</a:t>
            </a:r>
          </a:p>
        </p:txBody>
      </p:sp>
      <p:sp>
        <p:nvSpPr>
          <p:cNvPr id="14" name="Rounded Rectangle 12"/>
          <p:cNvSpPr/>
          <p:nvPr/>
        </p:nvSpPr>
        <p:spPr>
          <a:xfrm>
            <a:off x="6099048" y="2048256"/>
            <a:ext cx="1371600" cy="594360"/>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3"/>
          <p:cNvSpPr txBox="1"/>
          <p:nvPr/>
        </p:nvSpPr>
        <p:spPr>
          <a:xfrm>
            <a:off x="6135624" y="2167128"/>
            <a:ext cx="1298448" cy="310896"/>
          </a:xfrm>
          <a:prstGeom prst="rect">
            <a:avLst/>
          </a:prstGeom>
          <a:noFill/>
        </p:spPr>
        <p:txBody>
          <a:bodyPr wrap="square" lIns="45720" rIns="45720" anchor="ctr">
            <a:spAutoFit/>
          </a:bodyPr>
          <a:lstStyle/>
          <a:p>
            <a:pPr algn="ctr"/>
            <a:r>
              <a:rPr sz="1100" b="1">
                <a:solidFill>
                  <a:srgbClr val="F8FAFC"/>
                </a:solidFill>
                <a:latin typeface="Aptos"/>
              </a:rPr>
              <a:t>ASM
32 bits</a:t>
            </a:r>
          </a:p>
        </p:txBody>
      </p:sp>
      <p:sp>
        <p:nvSpPr>
          <p:cNvPr id="16" name="Rounded Rectangle 14"/>
          <p:cNvSpPr/>
          <p:nvPr/>
        </p:nvSpPr>
        <p:spPr>
          <a:xfrm>
            <a:off x="7598664" y="2048256"/>
            <a:ext cx="1828800" cy="59436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5"/>
          <p:cNvSpPr txBox="1"/>
          <p:nvPr/>
        </p:nvSpPr>
        <p:spPr>
          <a:xfrm>
            <a:off x="7635240" y="2167128"/>
            <a:ext cx="1755648" cy="310896"/>
          </a:xfrm>
          <a:prstGeom prst="rect">
            <a:avLst/>
          </a:prstGeom>
          <a:noFill/>
        </p:spPr>
        <p:txBody>
          <a:bodyPr wrap="square" lIns="45720" rIns="45720" anchor="ctr">
            <a:spAutoFit/>
          </a:bodyPr>
          <a:lstStyle/>
          <a:p>
            <a:pPr algn="ctr"/>
            <a:r>
              <a:rPr sz="1100" b="1">
                <a:solidFill>
                  <a:srgbClr val="F8FAFC"/>
                </a:solidFill>
                <a:latin typeface="Aptos"/>
              </a:rPr>
              <a:t>next frame</a:t>
            </a:r>
          </a:p>
        </p:txBody>
      </p:sp>
      <p:sp>
        <p:nvSpPr>
          <p:cNvPr id="18" name="TextBox 16"/>
          <p:cNvSpPr txBox="1"/>
          <p:nvPr/>
        </p:nvSpPr>
        <p:spPr>
          <a:xfrm>
            <a:off x="731520" y="3200400"/>
            <a:ext cx="3291840" cy="347472"/>
          </a:xfrm>
          <a:prstGeom prst="rect">
            <a:avLst/>
          </a:prstGeom>
          <a:noFill/>
        </p:spPr>
        <p:txBody>
          <a:bodyPr wrap="square" lIns="45720" rIns="45720" anchor="t">
            <a:spAutoFit/>
          </a:bodyPr>
          <a:lstStyle/>
          <a:p>
            <a:pPr algn="l"/>
            <a:r>
              <a:rPr sz="1600" b="1">
                <a:solidFill>
                  <a:srgbClr val="50C8D2"/>
                </a:solidFill>
                <a:latin typeface="Aptos"/>
              </a:rPr>
              <a:t>Known marker</a:t>
            </a:r>
          </a:p>
        </p:txBody>
      </p:sp>
      <p:sp>
        <p:nvSpPr>
          <p:cNvPr id="19" name="TextBox 17"/>
          <p:cNvSpPr txBox="1"/>
          <p:nvPr/>
        </p:nvSpPr>
        <p:spPr>
          <a:xfrm>
            <a:off x="731520" y="3611880"/>
            <a:ext cx="3337560" cy="841248"/>
          </a:xfrm>
          <a:prstGeom prst="rect">
            <a:avLst/>
          </a:prstGeom>
          <a:noFill/>
        </p:spPr>
        <p:txBody>
          <a:bodyPr wrap="square" lIns="45720" rIns="45720" anchor="t">
            <a:spAutoFit/>
          </a:bodyPr>
          <a:lstStyle/>
          <a:p>
            <a:pPr algn="l"/>
            <a:r>
              <a:rPr sz="1700" b="1">
                <a:solidFill>
                  <a:srgbClr val="F8FAFC"/>
                </a:solidFill>
                <a:latin typeface="Aptos"/>
              </a:rPr>
              <a:t>0x1ACFFC1D
32 bits • MSB first</a:t>
            </a:r>
          </a:p>
        </p:txBody>
      </p:sp>
      <p:sp>
        <p:nvSpPr>
          <p:cNvPr id="20" name="TextBox 18"/>
          <p:cNvSpPr txBox="1"/>
          <p:nvPr/>
        </p:nvSpPr>
        <p:spPr>
          <a:xfrm>
            <a:off x="4160520" y="3200400"/>
            <a:ext cx="3291840" cy="347472"/>
          </a:xfrm>
          <a:prstGeom prst="rect">
            <a:avLst/>
          </a:prstGeom>
          <a:noFill/>
        </p:spPr>
        <p:txBody>
          <a:bodyPr wrap="square" lIns="45720" rIns="45720" anchor="t">
            <a:spAutoFit/>
          </a:bodyPr>
          <a:lstStyle/>
          <a:p>
            <a:pPr algn="l"/>
            <a:r>
              <a:rPr sz="1600" b="1">
                <a:solidFill>
                  <a:srgbClr val="50C8D2"/>
                </a:solidFill>
                <a:latin typeface="Aptos"/>
              </a:rPr>
              <a:t>Scanning strategy</a:t>
            </a:r>
          </a:p>
        </p:txBody>
      </p:sp>
      <p:sp>
        <p:nvSpPr>
          <p:cNvPr id="21" name="TextBox 19"/>
          <p:cNvSpPr txBox="1"/>
          <p:nvPr/>
        </p:nvSpPr>
        <p:spPr>
          <a:xfrm>
            <a:off x="4160520" y="3611880"/>
            <a:ext cx="3200400" cy="822960"/>
          </a:xfrm>
          <a:prstGeom prst="rect">
            <a:avLst/>
          </a:prstGeom>
          <a:noFill/>
        </p:spPr>
        <p:txBody>
          <a:bodyPr wrap="square" lIns="45720" rIns="45720" anchor="t">
            <a:spAutoFit/>
          </a:bodyPr>
          <a:lstStyle/>
          <a:p>
            <a:pPr algn="l"/>
            <a:r>
              <a:rPr sz="1500" b="0">
                <a:solidFill>
                  <a:srgbClr val="E5EDF6"/>
                </a:solidFill>
                <a:latin typeface="Aptos"/>
              </a:rPr>
              <a:t>Move a 32-bit window one bit at a time. Do not assume byte alignment.</a:t>
            </a:r>
          </a:p>
        </p:txBody>
      </p:sp>
      <p:sp>
        <p:nvSpPr>
          <p:cNvPr id="22" name="TextBox 20"/>
          <p:cNvSpPr txBox="1"/>
          <p:nvPr/>
        </p:nvSpPr>
        <p:spPr>
          <a:xfrm>
            <a:off x="7635240" y="3200400"/>
            <a:ext cx="3291840" cy="347472"/>
          </a:xfrm>
          <a:prstGeom prst="rect">
            <a:avLst/>
          </a:prstGeom>
          <a:noFill/>
        </p:spPr>
        <p:txBody>
          <a:bodyPr wrap="square" lIns="45720" rIns="45720" anchor="t">
            <a:spAutoFit/>
          </a:bodyPr>
          <a:lstStyle/>
          <a:p>
            <a:pPr algn="l"/>
            <a:r>
              <a:rPr sz="1600" b="1">
                <a:solidFill>
                  <a:srgbClr val="50C8D2"/>
                </a:solidFill>
                <a:latin typeface="Aptos"/>
              </a:rPr>
              <a:t>Acceptance rule</a:t>
            </a:r>
          </a:p>
        </p:txBody>
      </p:sp>
      <p:sp>
        <p:nvSpPr>
          <p:cNvPr id="23" name="TextBox 21"/>
          <p:cNvSpPr txBox="1"/>
          <p:nvPr/>
        </p:nvSpPr>
        <p:spPr>
          <a:xfrm>
            <a:off x="7635240" y="3611880"/>
            <a:ext cx="3520440" cy="822960"/>
          </a:xfrm>
          <a:prstGeom prst="rect">
            <a:avLst/>
          </a:prstGeom>
          <a:noFill/>
        </p:spPr>
        <p:txBody>
          <a:bodyPr wrap="square" lIns="45720" rIns="45720" anchor="t">
            <a:spAutoFit/>
          </a:bodyPr>
          <a:lstStyle/>
          <a:p>
            <a:pPr algn="l"/>
            <a:r>
              <a:rPr sz="1500" b="0">
                <a:solidFill>
                  <a:srgbClr val="E5EDF6"/>
                </a:solidFill>
                <a:latin typeface="Aptos"/>
              </a:rPr>
              <a:t>Accept a candidate when at least 28 of 32 bits match.</a:t>
            </a:r>
          </a:p>
        </p:txBody>
      </p:sp>
      <p:sp>
        <p:nvSpPr>
          <p:cNvPr id="24" name="Rounded Rectangle 22"/>
          <p:cNvSpPr/>
          <p:nvPr/>
        </p:nvSpPr>
        <p:spPr>
          <a:xfrm>
            <a:off x="731520" y="4919472"/>
            <a:ext cx="10698480" cy="731520"/>
          </a:xfrm>
          <a:prstGeom prst="roundRect">
            <a:avLst/>
          </a:prstGeom>
          <a:solidFill>
            <a:srgbClr val="1F3653"/>
          </a:solidFill>
          <a:ln>
            <a:solidFill>
              <a:srgbClr val="1F3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3"/>
          <p:cNvSpPr txBox="1"/>
          <p:nvPr/>
        </p:nvSpPr>
        <p:spPr>
          <a:xfrm>
            <a:off x="960120" y="5120640"/>
            <a:ext cx="10241280" cy="292608"/>
          </a:xfrm>
          <a:prstGeom prst="rect">
            <a:avLst/>
          </a:prstGeom>
          <a:noFill/>
        </p:spPr>
        <p:txBody>
          <a:bodyPr wrap="square" lIns="45720" rIns="45720" anchor="t">
            <a:spAutoFit/>
          </a:bodyPr>
          <a:lstStyle/>
          <a:p>
            <a:pPr algn="ctr"/>
            <a:r>
              <a:rPr sz="1600" b="1">
                <a:solidFill>
                  <a:srgbClr val="F8FAFC"/>
                </a:solidFill>
                <a:latin typeface="Aptos"/>
              </a:rPr>
              <a:t>Core challenge: detect the marker, avoid false alarms, and only trust data after frame checks.</a:t>
            </a:r>
          </a:p>
        </p:txBody>
      </p:sp>
      <p:sp>
        <p:nvSpPr>
          <p:cNvPr id="26" name="TextBox 24"/>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27" name="TextBox 25"/>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02 / METHOD</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A simple software receiver pipeline</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This package demonstrates Level 1: a reproducible reference model, not hardware timing.</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5"/>
          <p:cNvSpPr/>
          <p:nvPr/>
        </p:nvSpPr>
        <p:spPr>
          <a:xfrm>
            <a:off x="612648" y="2029968"/>
            <a:ext cx="2514600" cy="18288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6"/>
          <p:cNvSpPr/>
          <p:nvPr/>
        </p:nvSpPr>
        <p:spPr>
          <a:xfrm>
            <a:off x="777240" y="2212848"/>
            <a:ext cx="438912" cy="347472"/>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7"/>
          <p:cNvSpPr txBox="1"/>
          <p:nvPr/>
        </p:nvSpPr>
        <p:spPr>
          <a:xfrm>
            <a:off x="850392" y="2263140"/>
            <a:ext cx="292607" cy="228600"/>
          </a:xfrm>
          <a:prstGeom prst="rect">
            <a:avLst/>
          </a:prstGeom>
          <a:noFill/>
        </p:spPr>
        <p:txBody>
          <a:bodyPr wrap="square" lIns="45720" rIns="45720" anchor="ctr">
            <a:spAutoFit/>
          </a:bodyPr>
          <a:lstStyle/>
          <a:p>
            <a:pPr algn="ctr"/>
            <a:r>
              <a:rPr sz="1000" b="1">
                <a:solidFill>
                  <a:srgbClr val="F8FAFC"/>
                </a:solidFill>
                <a:latin typeface="Aptos"/>
              </a:rPr>
              <a:t>1</a:t>
            </a:r>
          </a:p>
        </p:txBody>
      </p:sp>
      <p:sp>
        <p:nvSpPr>
          <p:cNvPr id="10" name="TextBox 8"/>
          <p:cNvSpPr txBox="1"/>
          <p:nvPr/>
        </p:nvSpPr>
        <p:spPr>
          <a:xfrm>
            <a:off x="777240" y="2743200"/>
            <a:ext cx="2194560" cy="347472"/>
          </a:xfrm>
          <a:prstGeom prst="rect">
            <a:avLst/>
          </a:prstGeom>
          <a:noFill/>
        </p:spPr>
        <p:txBody>
          <a:bodyPr wrap="square" lIns="45720" rIns="45720" anchor="t">
            <a:spAutoFit/>
          </a:bodyPr>
          <a:lstStyle/>
          <a:p>
            <a:pPr algn="l"/>
            <a:r>
              <a:rPr sz="1600" b="1">
                <a:solidFill>
                  <a:srgbClr val="F8FAFC"/>
                </a:solidFill>
                <a:latin typeface="Aptos"/>
              </a:rPr>
              <a:t>Generate frames</a:t>
            </a:r>
          </a:p>
        </p:txBody>
      </p:sp>
      <p:sp>
        <p:nvSpPr>
          <p:cNvPr id="11" name="TextBox 9"/>
          <p:cNvSpPr txBox="1"/>
          <p:nvPr/>
        </p:nvSpPr>
        <p:spPr>
          <a:xfrm>
            <a:off x="777240" y="3182112"/>
            <a:ext cx="2194560" cy="585216"/>
          </a:xfrm>
          <a:prstGeom prst="rect">
            <a:avLst/>
          </a:prstGeom>
          <a:noFill/>
        </p:spPr>
        <p:txBody>
          <a:bodyPr wrap="square" lIns="45720" rIns="45720" anchor="t">
            <a:spAutoFit/>
          </a:bodyPr>
          <a:lstStyle/>
          <a:p>
            <a:pPr algn="l"/>
            <a:r>
              <a:rPr sz="1200" b="0">
                <a:solidFill>
                  <a:srgbClr val="E5EDF6"/>
                </a:solidFill>
                <a:latin typeface="Aptos"/>
              </a:rPr>
              <a:t>ASM + 64-byte TM-style frame
Header • VCID • FECF CRC</a:t>
            </a:r>
          </a:p>
        </p:txBody>
      </p:sp>
      <p:sp>
        <p:nvSpPr>
          <p:cNvPr id="12" name="TextBox 10"/>
          <p:cNvSpPr txBox="1"/>
          <p:nvPr/>
        </p:nvSpPr>
        <p:spPr>
          <a:xfrm>
            <a:off x="3154679" y="2715768"/>
            <a:ext cx="301752" cy="320040"/>
          </a:xfrm>
          <a:prstGeom prst="rect">
            <a:avLst/>
          </a:prstGeom>
          <a:noFill/>
        </p:spPr>
        <p:txBody>
          <a:bodyPr wrap="square" lIns="45720" rIns="45720" anchor="t">
            <a:spAutoFit/>
          </a:bodyPr>
          <a:lstStyle/>
          <a:p>
            <a:pPr algn="ctr"/>
            <a:r>
              <a:rPr sz="2300" b="1">
                <a:solidFill>
                  <a:srgbClr val="50C8D2"/>
                </a:solidFill>
                <a:latin typeface="Aptos"/>
              </a:rPr>
              <a:t>→</a:t>
            </a:r>
          </a:p>
        </p:txBody>
      </p:sp>
      <p:sp>
        <p:nvSpPr>
          <p:cNvPr id="13" name="Rounded Rectangle 11"/>
          <p:cNvSpPr/>
          <p:nvPr/>
        </p:nvSpPr>
        <p:spPr>
          <a:xfrm>
            <a:off x="3511296" y="2029968"/>
            <a:ext cx="2514600" cy="18288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2"/>
          <p:cNvSpPr/>
          <p:nvPr/>
        </p:nvSpPr>
        <p:spPr>
          <a:xfrm>
            <a:off x="3675887" y="2212848"/>
            <a:ext cx="438912" cy="347472"/>
          </a:xfrm>
          <a:prstGeom prst="roundRect">
            <a:avLst/>
          </a:prstGeom>
          <a:solidFill>
            <a:srgbClr val="57668D"/>
          </a:solidFill>
          <a:ln>
            <a:solidFill>
              <a:srgbClr val="5766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3"/>
          <p:cNvSpPr txBox="1"/>
          <p:nvPr/>
        </p:nvSpPr>
        <p:spPr>
          <a:xfrm>
            <a:off x="3749039" y="2263140"/>
            <a:ext cx="292607" cy="228600"/>
          </a:xfrm>
          <a:prstGeom prst="rect">
            <a:avLst/>
          </a:prstGeom>
          <a:noFill/>
        </p:spPr>
        <p:txBody>
          <a:bodyPr wrap="square" lIns="45720" rIns="45720" anchor="ctr">
            <a:spAutoFit/>
          </a:bodyPr>
          <a:lstStyle/>
          <a:p>
            <a:pPr algn="ctr"/>
            <a:r>
              <a:rPr sz="1000" b="1">
                <a:solidFill>
                  <a:srgbClr val="F8FAFC"/>
                </a:solidFill>
                <a:latin typeface="Aptos"/>
              </a:rPr>
              <a:t>2</a:t>
            </a:r>
          </a:p>
        </p:txBody>
      </p:sp>
      <p:sp>
        <p:nvSpPr>
          <p:cNvPr id="16" name="TextBox 14"/>
          <p:cNvSpPr txBox="1"/>
          <p:nvPr/>
        </p:nvSpPr>
        <p:spPr>
          <a:xfrm>
            <a:off x="3675887" y="2743200"/>
            <a:ext cx="2194560" cy="347472"/>
          </a:xfrm>
          <a:prstGeom prst="rect">
            <a:avLst/>
          </a:prstGeom>
          <a:noFill/>
        </p:spPr>
        <p:txBody>
          <a:bodyPr wrap="square" lIns="45720" rIns="45720" anchor="t">
            <a:spAutoFit/>
          </a:bodyPr>
          <a:lstStyle/>
          <a:p>
            <a:pPr algn="l"/>
            <a:r>
              <a:rPr sz="1600" b="1">
                <a:solidFill>
                  <a:srgbClr val="F8FAFC"/>
                </a:solidFill>
                <a:latin typeface="Aptos"/>
              </a:rPr>
              <a:t>Simulate channel</a:t>
            </a:r>
          </a:p>
        </p:txBody>
      </p:sp>
      <p:sp>
        <p:nvSpPr>
          <p:cNvPr id="17" name="TextBox 15"/>
          <p:cNvSpPr txBox="1"/>
          <p:nvPr/>
        </p:nvSpPr>
        <p:spPr>
          <a:xfrm>
            <a:off x="3675887" y="3182112"/>
            <a:ext cx="2194560" cy="585216"/>
          </a:xfrm>
          <a:prstGeom prst="rect">
            <a:avLst/>
          </a:prstGeom>
          <a:noFill/>
        </p:spPr>
        <p:txBody>
          <a:bodyPr wrap="square" lIns="45720" rIns="45720" anchor="t">
            <a:spAutoFit/>
          </a:bodyPr>
          <a:lstStyle/>
          <a:p>
            <a:pPr algn="l"/>
            <a:r>
              <a:rPr sz="1200" b="0">
                <a:solidFill>
                  <a:srgbClr val="E5EDF6"/>
                </a:solidFill>
                <a:latin typeface="Aptos"/>
              </a:rPr>
              <a:t>BPSK: 0 → +1, 1 → −1
Add Gaussian noise (AWGN)</a:t>
            </a:r>
          </a:p>
        </p:txBody>
      </p:sp>
      <p:sp>
        <p:nvSpPr>
          <p:cNvPr id="18" name="TextBox 16"/>
          <p:cNvSpPr txBox="1"/>
          <p:nvPr/>
        </p:nvSpPr>
        <p:spPr>
          <a:xfrm>
            <a:off x="6053327" y="2715768"/>
            <a:ext cx="301752" cy="320040"/>
          </a:xfrm>
          <a:prstGeom prst="rect">
            <a:avLst/>
          </a:prstGeom>
          <a:noFill/>
        </p:spPr>
        <p:txBody>
          <a:bodyPr wrap="square" lIns="45720" rIns="45720" anchor="t">
            <a:spAutoFit/>
          </a:bodyPr>
          <a:lstStyle/>
          <a:p>
            <a:pPr algn="ctr"/>
            <a:r>
              <a:rPr sz="2300" b="1">
                <a:solidFill>
                  <a:srgbClr val="50C8D2"/>
                </a:solidFill>
                <a:latin typeface="Aptos"/>
              </a:rPr>
              <a:t>→</a:t>
            </a:r>
          </a:p>
        </p:txBody>
      </p:sp>
      <p:sp>
        <p:nvSpPr>
          <p:cNvPr id="19" name="Rounded Rectangle 17"/>
          <p:cNvSpPr/>
          <p:nvPr/>
        </p:nvSpPr>
        <p:spPr>
          <a:xfrm>
            <a:off x="6409944" y="2029968"/>
            <a:ext cx="2514600" cy="18288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8"/>
          <p:cNvSpPr/>
          <p:nvPr/>
        </p:nvSpPr>
        <p:spPr>
          <a:xfrm>
            <a:off x="6574536" y="2212848"/>
            <a:ext cx="438912" cy="347472"/>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9"/>
          <p:cNvSpPr txBox="1"/>
          <p:nvPr/>
        </p:nvSpPr>
        <p:spPr>
          <a:xfrm>
            <a:off x="6647688" y="2263140"/>
            <a:ext cx="292607" cy="228600"/>
          </a:xfrm>
          <a:prstGeom prst="rect">
            <a:avLst/>
          </a:prstGeom>
          <a:noFill/>
        </p:spPr>
        <p:txBody>
          <a:bodyPr wrap="square" lIns="45720" rIns="45720" anchor="ctr">
            <a:spAutoFit/>
          </a:bodyPr>
          <a:lstStyle/>
          <a:p>
            <a:pPr algn="ctr"/>
            <a:r>
              <a:rPr sz="1000" b="1">
                <a:solidFill>
                  <a:srgbClr val="F8FAFC"/>
                </a:solidFill>
                <a:latin typeface="Aptos"/>
              </a:rPr>
              <a:t>3</a:t>
            </a:r>
          </a:p>
        </p:txBody>
      </p:sp>
      <p:sp>
        <p:nvSpPr>
          <p:cNvPr id="22" name="TextBox 20"/>
          <p:cNvSpPr txBox="1"/>
          <p:nvPr/>
        </p:nvSpPr>
        <p:spPr>
          <a:xfrm>
            <a:off x="6574536" y="2743200"/>
            <a:ext cx="2194560" cy="347472"/>
          </a:xfrm>
          <a:prstGeom prst="rect">
            <a:avLst/>
          </a:prstGeom>
          <a:noFill/>
        </p:spPr>
        <p:txBody>
          <a:bodyPr wrap="square" lIns="45720" rIns="45720" anchor="t">
            <a:spAutoFit/>
          </a:bodyPr>
          <a:lstStyle/>
          <a:p>
            <a:pPr algn="l"/>
            <a:r>
              <a:rPr sz="1600" b="1">
                <a:solidFill>
                  <a:srgbClr val="F8FAFC"/>
                </a:solidFill>
                <a:latin typeface="Aptos"/>
              </a:rPr>
              <a:t>Detect marker</a:t>
            </a:r>
          </a:p>
        </p:txBody>
      </p:sp>
      <p:sp>
        <p:nvSpPr>
          <p:cNvPr id="23" name="TextBox 21"/>
          <p:cNvSpPr txBox="1"/>
          <p:nvPr/>
        </p:nvSpPr>
        <p:spPr>
          <a:xfrm>
            <a:off x="6574536" y="3182112"/>
            <a:ext cx="2194560" cy="585216"/>
          </a:xfrm>
          <a:prstGeom prst="rect">
            <a:avLst/>
          </a:prstGeom>
          <a:noFill/>
        </p:spPr>
        <p:txBody>
          <a:bodyPr wrap="square" lIns="45720" rIns="45720" anchor="t">
            <a:spAutoFit/>
          </a:bodyPr>
          <a:lstStyle/>
          <a:p>
            <a:pPr algn="l"/>
            <a:r>
              <a:rPr sz="1200" b="0">
                <a:solidFill>
                  <a:srgbClr val="E5EDF6"/>
                </a:solidFill>
                <a:latin typeface="Aptos"/>
              </a:rPr>
              <a:t>Hard decisions to bits
32-bit window • threshold 28/32</a:t>
            </a:r>
          </a:p>
        </p:txBody>
      </p:sp>
      <p:sp>
        <p:nvSpPr>
          <p:cNvPr id="24" name="TextBox 22"/>
          <p:cNvSpPr txBox="1"/>
          <p:nvPr/>
        </p:nvSpPr>
        <p:spPr>
          <a:xfrm>
            <a:off x="8951976" y="2715768"/>
            <a:ext cx="301752" cy="320040"/>
          </a:xfrm>
          <a:prstGeom prst="rect">
            <a:avLst/>
          </a:prstGeom>
          <a:noFill/>
        </p:spPr>
        <p:txBody>
          <a:bodyPr wrap="square" lIns="45720" rIns="45720" anchor="t">
            <a:spAutoFit/>
          </a:bodyPr>
          <a:lstStyle/>
          <a:p>
            <a:pPr algn="ctr"/>
            <a:r>
              <a:rPr sz="2300" b="1">
                <a:solidFill>
                  <a:srgbClr val="50C8D2"/>
                </a:solidFill>
                <a:latin typeface="Aptos"/>
              </a:rPr>
              <a:t>→</a:t>
            </a:r>
          </a:p>
        </p:txBody>
      </p:sp>
      <p:sp>
        <p:nvSpPr>
          <p:cNvPr id="25" name="Rounded Rectangle 23"/>
          <p:cNvSpPr/>
          <p:nvPr/>
        </p:nvSpPr>
        <p:spPr>
          <a:xfrm>
            <a:off x="9308592" y="2029968"/>
            <a:ext cx="2514600" cy="18288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4"/>
          <p:cNvSpPr/>
          <p:nvPr/>
        </p:nvSpPr>
        <p:spPr>
          <a:xfrm>
            <a:off x="9473184" y="2212848"/>
            <a:ext cx="438912" cy="347472"/>
          </a:xfrm>
          <a:prstGeom prst="roundRect">
            <a:avLst/>
          </a:prstGeom>
          <a:solidFill>
            <a:srgbClr val="9B6F3B"/>
          </a:solidFill>
          <a:ln>
            <a:solidFill>
              <a:srgbClr val="9B6F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5"/>
          <p:cNvSpPr txBox="1"/>
          <p:nvPr/>
        </p:nvSpPr>
        <p:spPr>
          <a:xfrm>
            <a:off x="9546336" y="2263140"/>
            <a:ext cx="292607" cy="228600"/>
          </a:xfrm>
          <a:prstGeom prst="rect">
            <a:avLst/>
          </a:prstGeom>
          <a:noFill/>
        </p:spPr>
        <p:txBody>
          <a:bodyPr wrap="square" lIns="45720" rIns="45720" anchor="ctr">
            <a:spAutoFit/>
          </a:bodyPr>
          <a:lstStyle/>
          <a:p>
            <a:pPr algn="ctr"/>
            <a:r>
              <a:rPr sz="1000" b="1">
                <a:solidFill>
                  <a:srgbClr val="F8FAFC"/>
                </a:solidFill>
                <a:latin typeface="Aptos"/>
              </a:rPr>
              <a:t>4</a:t>
            </a:r>
          </a:p>
        </p:txBody>
      </p:sp>
      <p:sp>
        <p:nvSpPr>
          <p:cNvPr id="28" name="TextBox 26"/>
          <p:cNvSpPr txBox="1"/>
          <p:nvPr/>
        </p:nvSpPr>
        <p:spPr>
          <a:xfrm>
            <a:off x="9473184" y="2743200"/>
            <a:ext cx="2194560" cy="347472"/>
          </a:xfrm>
          <a:prstGeom prst="rect">
            <a:avLst/>
          </a:prstGeom>
          <a:noFill/>
        </p:spPr>
        <p:txBody>
          <a:bodyPr wrap="square" lIns="45720" rIns="45720" anchor="t">
            <a:spAutoFit/>
          </a:bodyPr>
          <a:lstStyle/>
          <a:p>
            <a:pPr algn="l"/>
            <a:r>
              <a:rPr sz="1600" b="1">
                <a:solidFill>
                  <a:srgbClr val="F8FAFC"/>
                </a:solidFill>
                <a:latin typeface="Aptos"/>
              </a:rPr>
              <a:t>Validate frame</a:t>
            </a:r>
          </a:p>
        </p:txBody>
      </p:sp>
      <p:sp>
        <p:nvSpPr>
          <p:cNvPr id="29" name="TextBox 27"/>
          <p:cNvSpPr txBox="1"/>
          <p:nvPr/>
        </p:nvSpPr>
        <p:spPr>
          <a:xfrm>
            <a:off x="9473184" y="3182112"/>
            <a:ext cx="2194560" cy="585216"/>
          </a:xfrm>
          <a:prstGeom prst="rect">
            <a:avLst/>
          </a:prstGeom>
          <a:noFill/>
        </p:spPr>
        <p:txBody>
          <a:bodyPr wrap="square" lIns="45720" rIns="45720" anchor="t">
            <a:spAutoFit/>
          </a:bodyPr>
          <a:lstStyle/>
          <a:p>
            <a:pPr algn="l"/>
            <a:r>
              <a:rPr sz="1200" b="0">
                <a:solidFill>
                  <a:srgbClr val="E5EDF6"/>
                </a:solidFill>
                <a:latin typeface="Aptos"/>
              </a:rPr>
              <a:t>Check header and CRC/FECF
Only then decode telemetry</a:t>
            </a:r>
          </a:p>
        </p:txBody>
      </p:sp>
      <p:sp>
        <p:nvSpPr>
          <p:cNvPr id="30" name="Rounded Rectangle 28"/>
          <p:cNvSpPr/>
          <p:nvPr/>
        </p:nvSpPr>
        <p:spPr>
          <a:xfrm>
            <a:off x="685800" y="4370832"/>
            <a:ext cx="1965960" cy="347472"/>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29"/>
          <p:cNvSpPr txBox="1"/>
          <p:nvPr/>
        </p:nvSpPr>
        <p:spPr>
          <a:xfrm>
            <a:off x="758952" y="4421124"/>
            <a:ext cx="1819656" cy="228600"/>
          </a:xfrm>
          <a:prstGeom prst="rect">
            <a:avLst/>
          </a:prstGeom>
          <a:noFill/>
        </p:spPr>
        <p:txBody>
          <a:bodyPr wrap="square" lIns="45720" rIns="45720" anchor="ctr">
            <a:spAutoFit/>
          </a:bodyPr>
          <a:lstStyle/>
          <a:p>
            <a:pPr algn="ctr"/>
            <a:r>
              <a:rPr sz="1000" b="1">
                <a:solidFill>
                  <a:srgbClr val="F8FAFC"/>
                </a:solidFill>
                <a:latin typeface="Aptos"/>
              </a:rPr>
              <a:t>ASM: 0x1ACFFC1D</a:t>
            </a:r>
          </a:p>
        </p:txBody>
      </p:sp>
      <p:sp>
        <p:nvSpPr>
          <p:cNvPr id="32" name="Rounded Rectangle 30"/>
          <p:cNvSpPr/>
          <p:nvPr/>
        </p:nvSpPr>
        <p:spPr>
          <a:xfrm>
            <a:off x="2788920" y="4370832"/>
            <a:ext cx="1645920" cy="347472"/>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1"/>
          <p:cNvSpPr txBox="1"/>
          <p:nvPr/>
        </p:nvSpPr>
        <p:spPr>
          <a:xfrm>
            <a:off x="2862072" y="4421124"/>
            <a:ext cx="1499616" cy="228600"/>
          </a:xfrm>
          <a:prstGeom prst="rect">
            <a:avLst/>
          </a:prstGeom>
          <a:noFill/>
        </p:spPr>
        <p:txBody>
          <a:bodyPr wrap="square" lIns="45720" rIns="45720" anchor="ctr">
            <a:spAutoFit/>
          </a:bodyPr>
          <a:lstStyle/>
          <a:p>
            <a:pPr algn="ctr"/>
            <a:r>
              <a:rPr sz="1000" b="1">
                <a:solidFill>
                  <a:srgbClr val="F8FAFC"/>
                </a:solidFill>
                <a:latin typeface="Aptos"/>
              </a:rPr>
              <a:t>Frame: 64 bytes</a:t>
            </a:r>
          </a:p>
        </p:txBody>
      </p:sp>
      <p:sp>
        <p:nvSpPr>
          <p:cNvPr id="34" name="Rounded Rectangle 32"/>
          <p:cNvSpPr/>
          <p:nvPr/>
        </p:nvSpPr>
        <p:spPr>
          <a:xfrm>
            <a:off x="4572000" y="4370832"/>
            <a:ext cx="1737360" cy="347472"/>
          </a:xfrm>
          <a:prstGeom prst="roundRect">
            <a:avLst/>
          </a:prstGeom>
          <a:solidFill>
            <a:srgbClr val="57668D"/>
          </a:solidFill>
          <a:ln>
            <a:solidFill>
              <a:srgbClr val="5766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3"/>
          <p:cNvSpPr txBox="1"/>
          <p:nvPr/>
        </p:nvSpPr>
        <p:spPr>
          <a:xfrm>
            <a:off x="4645152" y="4421124"/>
            <a:ext cx="1591056" cy="228600"/>
          </a:xfrm>
          <a:prstGeom prst="rect">
            <a:avLst/>
          </a:prstGeom>
          <a:noFill/>
        </p:spPr>
        <p:txBody>
          <a:bodyPr wrap="square" lIns="45720" rIns="45720" anchor="ctr">
            <a:spAutoFit/>
          </a:bodyPr>
          <a:lstStyle/>
          <a:p>
            <a:pPr algn="ctr"/>
            <a:r>
              <a:rPr sz="1000" b="1">
                <a:solidFill>
                  <a:srgbClr val="F8FAFC"/>
                </a:solidFill>
                <a:latin typeface="Aptos"/>
              </a:rPr>
              <a:t>Threshold: 28/32</a:t>
            </a:r>
          </a:p>
        </p:txBody>
      </p:sp>
      <p:sp>
        <p:nvSpPr>
          <p:cNvPr id="36" name="Rounded Rectangle 34"/>
          <p:cNvSpPr/>
          <p:nvPr/>
        </p:nvSpPr>
        <p:spPr>
          <a:xfrm>
            <a:off x="6492240" y="4370832"/>
            <a:ext cx="1874519" cy="347472"/>
          </a:xfrm>
          <a:prstGeom prst="roundRect">
            <a:avLst/>
          </a:prstGeom>
          <a:solidFill>
            <a:srgbClr val="9B6F3B"/>
          </a:solidFill>
          <a:ln>
            <a:solidFill>
              <a:srgbClr val="9B6F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5"/>
          <p:cNvSpPr txBox="1"/>
          <p:nvPr/>
        </p:nvSpPr>
        <p:spPr>
          <a:xfrm>
            <a:off x="6565392" y="4421124"/>
            <a:ext cx="1728216" cy="228600"/>
          </a:xfrm>
          <a:prstGeom prst="rect">
            <a:avLst/>
          </a:prstGeom>
          <a:noFill/>
        </p:spPr>
        <p:txBody>
          <a:bodyPr wrap="square" lIns="45720" rIns="45720" anchor="ctr">
            <a:spAutoFit/>
          </a:bodyPr>
          <a:lstStyle/>
          <a:p>
            <a:pPr algn="ctr"/>
            <a:r>
              <a:rPr sz="1000" b="1">
                <a:solidFill>
                  <a:srgbClr val="F8FAFC"/>
                </a:solidFill>
                <a:latin typeface="Aptos"/>
              </a:rPr>
              <a:t>73-bit random prefix</a:t>
            </a:r>
          </a:p>
        </p:txBody>
      </p:sp>
      <p:sp>
        <p:nvSpPr>
          <p:cNvPr id="38" name="TextBox 36"/>
          <p:cNvSpPr txBox="1"/>
          <p:nvPr/>
        </p:nvSpPr>
        <p:spPr>
          <a:xfrm>
            <a:off x="749808" y="5120640"/>
            <a:ext cx="10607040" cy="566928"/>
          </a:xfrm>
          <a:prstGeom prst="rect">
            <a:avLst/>
          </a:prstGeom>
          <a:noFill/>
        </p:spPr>
        <p:txBody>
          <a:bodyPr wrap="square" lIns="45720" rIns="45720" anchor="t">
            <a:spAutoFit/>
          </a:bodyPr>
          <a:lstStyle/>
          <a:p>
            <a:pPr algn="l"/>
            <a:r>
              <a:rPr sz="1400" b="0">
                <a:solidFill>
                  <a:srgbClr val="B4C4D6"/>
                </a:solidFill>
                <a:latin typeface="Aptos"/>
              </a:rPr>
              <a:t>Teaching scope: uncoded BPSK/AWGN and an illustrative VCA payload. No RF modem, FEC decoder, or complete flight receiver is claimed.</a:t>
            </a:r>
          </a:p>
        </p:txBody>
      </p:sp>
      <p:sp>
        <p:nvSpPr>
          <p:cNvPr id="39" name="TextBox 37"/>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40" name="TextBox 38"/>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03 / RESULTS</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What happened in the seeded 8 dB experiment?</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The included simulation was rerun from the supplied code; seven automated unit tests passed.</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5" descr="performance.png"/>
          <p:cNvPicPr>
            <a:picLocks noChangeAspect="1"/>
          </p:cNvPicPr>
          <p:nvPr/>
        </p:nvPicPr>
        <p:blipFill>
          <a:blip r:embed="rId2"/>
          <a:stretch>
            <a:fillRect/>
          </a:stretch>
        </p:blipFill>
        <p:spPr>
          <a:xfrm>
            <a:off x="502920" y="1691640"/>
            <a:ext cx="7406640" cy="4572000"/>
          </a:xfrm>
          <a:prstGeom prst="rect">
            <a:avLst/>
          </a:prstGeom>
        </p:spPr>
      </p:pic>
      <p:sp>
        <p:nvSpPr>
          <p:cNvPr id="8" name="Rounded Rectangle 6"/>
          <p:cNvSpPr/>
          <p:nvPr/>
        </p:nvSpPr>
        <p:spPr>
          <a:xfrm>
            <a:off x="8138160" y="1783080"/>
            <a:ext cx="3520440" cy="452628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7"/>
          <p:cNvSpPr txBox="1"/>
          <p:nvPr/>
        </p:nvSpPr>
        <p:spPr>
          <a:xfrm>
            <a:off x="8394192" y="2029968"/>
            <a:ext cx="2971800" cy="292608"/>
          </a:xfrm>
          <a:prstGeom prst="rect">
            <a:avLst/>
          </a:prstGeom>
          <a:noFill/>
        </p:spPr>
        <p:txBody>
          <a:bodyPr wrap="square" lIns="45720" rIns="45720" anchor="t">
            <a:spAutoFit/>
          </a:bodyPr>
          <a:lstStyle/>
          <a:p>
            <a:pPr algn="l"/>
            <a:r>
              <a:rPr sz="1000" b="1">
                <a:solidFill>
                  <a:srgbClr val="50C8D2"/>
                </a:solidFill>
                <a:latin typeface="Aptos"/>
              </a:rPr>
              <a:t>DEFAULT RUN • SEED 2026</a:t>
            </a:r>
          </a:p>
        </p:txBody>
      </p:sp>
      <p:sp>
        <p:nvSpPr>
          <p:cNvPr id="10" name="TextBox 8"/>
          <p:cNvSpPr txBox="1"/>
          <p:nvPr/>
        </p:nvSpPr>
        <p:spPr>
          <a:xfrm>
            <a:off x="8394192" y="2542032"/>
            <a:ext cx="2926080" cy="402336"/>
          </a:xfrm>
          <a:prstGeom prst="rect">
            <a:avLst/>
          </a:prstGeom>
          <a:noFill/>
        </p:spPr>
        <p:txBody>
          <a:bodyPr wrap="square" lIns="45720" rIns="45720" anchor="t">
            <a:spAutoFit/>
          </a:bodyPr>
          <a:lstStyle/>
          <a:p>
            <a:pPr algn="l"/>
            <a:r>
              <a:rPr sz="2400" b="1">
                <a:solidFill>
                  <a:srgbClr val="40AB81"/>
                </a:solidFill>
                <a:latin typeface="Aptos"/>
              </a:rPr>
              <a:t>120 / 120</a:t>
            </a:r>
          </a:p>
        </p:txBody>
      </p:sp>
      <p:sp>
        <p:nvSpPr>
          <p:cNvPr id="11" name="TextBox 9"/>
          <p:cNvSpPr txBox="1"/>
          <p:nvPr/>
        </p:nvSpPr>
        <p:spPr>
          <a:xfrm>
            <a:off x="8412480" y="2962656"/>
            <a:ext cx="2880360" cy="274320"/>
          </a:xfrm>
          <a:prstGeom prst="rect">
            <a:avLst/>
          </a:prstGeom>
          <a:noFill/>
        </p:spPr>
        <p:txBody>
          <a:bodyPr wrap="square" lIns="45720" rIns="45720" anchor="t">
            <a:spAutoFit/>
          </a:bodyPr>
          <a:lstStyle/>
          <a:p>
            <a:pPr algn="l"/>
            <a:r>
              <a:rPr sz="1100" b="0">
                <a:solidFill>
                  <a:srgbClr val="B4C4D6"/>
                </a:solidFill>
                <a:latin typeface="Aptos"/>
              </a:rPr>
              <a:t>true sync markers found</a:t>
            </a:r>
          </a:p>
        </p:txBody>
      </p:sp>
      <p:sp>
        <p:nvSpPr>
          <p:cNvPr id="12" name="TextBox 10"/>
          <p:cNvSpPr txBox="1"/>
          <p:nvPr/>
        </p:nvSpPr>
        <p:spPr>
          <a:xfrm>
            <a:off x="8394192" y="3447288"/>
            <a:ext cx="2926080" cy="402336"/>
          </a:xfrm>
          <a:prstGeom prst="rect">
            <a:avLst/>
          </a:prstGeom>
          <a:noFill/>
        </p:spPr>
        <p:txBody>
          <a:bodyPr wrap="square" lIns="45720" rIns="45720" anchor="t">
            <a:spAutoFit/>
          </a:bodyPr>
          <a:lstStyle/>
          <a:p>
            <a:pPr algn="l"/>
            <a:r>
              <a:rPr sz="2400" b="1">
                <a:solidFill>
                  <a:srgbClr val="F5B942"/>
                </a:solidFill>
                <a:latin typeface="Aptos"/>
              </a:rPr>
              <a:t>1</a:t>
            </a:r>
          </a:p>
        </p:txBody>
      </p:sp>
      <p:sp>
        <p:nvSpPr>
          <p:cNvPr id="13" name="TextBox 11"/>
          <p:cNvSpPr txBox="1"/>
          <p:nvPr/>
        </p:nvSpPr>
        <p:spPr>
          <a:xfrm>
            <a:off x="8412480" y="3867912"/>
            <a:ext cx="2880360" cy="274320"/>
          </a:xfrm>
          <a:prstGeom prst="rect">
            <a:avLst/>
          </a:prstGeom>
          <a:noFill/>
        </p:spPr>
        <p:txBody>
          <a:bodyPr wrap="square" lIns="45720" rIns="45720" anchor="t">
            <a:spAutoFit/>
          </a:bodyPr>
          <a:lstStyle/>
          <a:p>
            <a:pPr algn="l"/>
            <a:r>
              <a:rPr sz="1100" b="0">
                <a:solidFill>
                  <a:srgbClr val="B4C4D6"/>
                </a:solidFill>
                <a:latin typeface="Aptos"/>
              </a:rPr>
              <a:t>false candidate position</a:t>
            </a:r>
          </a:p>
        </p:txBody>
      </p:sp>
      <p:sp>
        <p:nvSpPr>
          <p:cNvPr id="14" name="TextBox 12"/>
          <p:cNvSpPr txBox="1"/>
          <p:nvPr/>
        </p:nvSpPr>
        <p:spPr>
          <a:xfrm>
            <a:off x="8394192" y="4352544"/>
            <a:ext cx="2926080" cy="402336"/>
          </a:xfrm>
          <a:prstGeom prst="rect">
            <a:avLst/>
          </a:prstGeom>
          <a:noFill/>
        </p:spPr>
        <p:txBody>
          <a:bodyPr wrap="square" lIns="45720" rIns="45720" anchor="t">
            <a:spAutoFit/>
          </a:bodyPr>
          <a:lstStyle/>
          <a:p>
            <a:pPr algn="l"/>
            <a:r>
              <a:rPr sz="2400" b="1">
                <a:solidFill>
                  <a:srgbClr val="50C8D2"/>
                </a:solidFill>
                <a:latin typeface="Aptos"/>
              </a:rPr>
              <a:t>110 / 120</a:t>
            </a:r>
          </a:p>
        </p:txBody>
      </p:sp>
      <p:sp>
        <p:nvSpPr>
          <p:cNvPr id="15" name="TextBox 13"/>
          <p:cNvSpPr txBox="1"/>
          <p:nvPr/>
        </p:nvSpPr>
        <p:spPr>
          <a:xfrm>
            <a:off x="8412480" y="4773168"/>
            <a:ext cx="2880360" cy="274320"/>
          </a:xfrm>
          <a:prstGeom prst="rect">
            <a:avLst/>
          </a:prstGeom>
          <a:noFill/>
        </p:spPr>
        <p:txBody>
          <a:bodyPr wrap="square" lIns="45720" rIns="45720" anchor="t">
            <a:spAutoFit/>
          </a:bodyPr>
          <a:lstStyle/>
          <a:p>
            <a:pPr algn="l"/>
            <a:r>
              <a:rPr sz="1100" b="0">
                <a:solidFill>
                  <a:srgbClr val="B4C4D6"/>
                </a:solidFill>
                <a:latin typeface="Aptos"/>
              </a:rPr>
              <a:t>CRC-verified frames</a:t>
            </a:r>
          </a:p>
        </p:txBody>
      </p:sp>
      <p:sp>
        <p:nvSpPr>
          <p:cNvPr id="16" name="TextBox 14"/>
          <p:cNvSpPr txBox="1"/>
          <p:nvPr/>
        </p:nvSpPr>
        <p:spPr>
          <a:xfrm>
            <a:off x="8394192" y="5257800"/>
            <a:ext cx="2926080" cy="402336"/>
          </a:xfrm>
          <a:prstGeom prst="rect">
            <a:avLst/>
          </a:prstGeom>
          <a:noFill/>
        </p:spPr>
        <p:txBody>
          <a:bodyPr wrap="square" lIns="45720" rIns="45720" anchor="t">
            <a:spAutoFit/>
          </a:bodyPr>
          <a:lstStyle/>
          <a:p>
            <a:pPr algn="l"/>
            <a:r>
              <a:rPr sz="2400" b="1">
                <a:solidFill>
                  <a:srgbClr val="F8FAFC"/>
                </a:solidFill>
                <a:latin typeface="Aptos"/>
              </a:rPr>
              <a:t>0.000168</a:t>
            </a:r>
          </a:p>
        </p:txBody>
      </p:sp>
      <p:sp>
        <p:nvSpPr>
          <p:cNvPr id="17" name="TextBox 15"/>
          <p:cNvSpPr txBox="1"/>
          <p:nvPr/>
        </p:nvSpPr>
        <p:spPr>
          <a:xfrm>
            <a:off x="8412480" y="5678424"/>
            <a:ext cx="2880360" cy="274320"/>
          </a:xfrm>
          <a:prstGeom prst="rect">
            <a:avLst/>
          </a:prstGeom>
          <a:noFill/>
        </p:spPr>
        <p:txBody>
          <a:bodyPr wrap="square" lIns="45720" rIns="45720" anchor="t">
            <a:spAutoFit/>
          </a:bodyPr>
          <a:lstStyle/>
          <a:p>
            <a:pPr algn="l"/>
            <a:r>
              <a:rPr sz="1100" b="0">
                <a:solidFill>
                  <a:srgbClr val="B4C4D6"/>
                </a:solidFill>
                <a:latin typeface="Aptos"/>
              </a:rPr>
              <a:t>measured bit error rate</a:t>
            </a:r>
          </a:p>
        </p:txBody>
      </p:sp>
      <p:sp>
        <p:nvSpPr>
          <p:cNvPr id="18" name="TextBox 16"/>
          <p:cNvSpPr txBox="1"/>
          <p:nvPr/>
        </p:nvSpPr>
        <p:spPr>
          <a:xfrm>
            <a:off x="8394192" y="5925312"/>
            <a:ext cx="2926080" cy="228600"/>
          </a:xfrm>
          <a:prstGeom prst="rect">
            <a:avLst/>
          </a:prstGeom>
          <a:noFill/>
        </p:spPr>
        <p:txBody>
          <a:bodyPr wrap="square" lIns="45720" rIns="45720" anchor="t">
            <a:spAutoFit/>
          </a:bodyPr>
          <a:lstStyle/>
          <a:p>
            <a:pPr algn="l"/>
            <a:r>
              <a:rPr sz="1000" b="1">
                <a:solidFill>
                  <a:srgbClr val="E5EDF6"/>
                </a:solidFill>
                <a:latin typeface="Aptos"/>
              </a:rPr>
              <a:t>Threshold: 28/32 matches</a:t>
            </a:r>
          </a:p>
        </p:txBody>
      </p:sp>
      <p:sp>
        <p:nvSpPr>
          <p:cNvPr id="19" name="TextBox 17"/>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20" name="TextBox 18"/>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04 / LIVE DEMO</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Live demo: run it and reproduce the numbers</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Interactive walkthrough first, then the Python simulation and its automated tests.</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5"/>
          <p:cNvSpPr/>
          <p:nvPr/>
        </p:nvSpPr>
        <p:spPr>
          <a:xfrm>
            <a:off x="640080" y="1828800"/>
            <a:ext cx="6537960" cy="3566160"/>
          </a:xfrm>
          <a:prstGeom prst="roundRect">
            <a:avLst/>
          </a:prstGeom>
          <a:solidFill>
            <a:srgbClr val="111D2C"/>
          </a:solidFill>
          <a:ln>
            <a:solidFill>
              <a:srgbClr val="354C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6"/>
          <p:cNvSpPr txBox="1"/>
          <p:nvPr/>
        </p:nvSpPr>
        <p:spPr>
          <a:xfrm>
            <a:off x="914400" y="2029968"/>
            <a:ext cx="5943600" cy="256032"/>
          </a:xfrm>
          <a:prstGeom prst="rect">
            <a:avLst/>
          </a:prstGeom>
          <a:noFill/>
        </p:spPr>
        <p:txBody>
          <a:bodyPr wrap="square" lIns="45720" rIns="45720" anchor="t">
            <a:spAutoFit/>
          </a:bodyPr>
          <a:lstStyle/>
          <a:p>
            <a:pPr algn="l"/>
            <a:r>
              <a:rPr sz="1000" b="1">
                <a:solidFill>
                  <a:srgbClr val="50C8D2"/>
                </a:solidFill>
                <a:latin typeface="Aptos"/>
              </a:rPr>
              <a:t>POWERSHELL / TERMINAL</a:t>
            </a:r>
          </a:p>
        </p:txBody>
      </p:sp>
      <p:sp>
        <p:nvSpPr>
          <p:cNvPr id="9" name="TextBox 7"/>
          <p:cNvSpPr txBox="1"/>
          <p:nvPr/>
        </p:nvSpPr>
        <p:spPr>
          <a:xfrm>
            <a:off x="914400" y="2542032"/>
            <a:ext cx="5760720" cy="320040"/>
          </a:xfrm>
          <a:prstGeom prst="rect">
            <a:avLst/>
          </a:prstGeom>
          <a:noFill/>
        </p:spPr>
        <p:txBody>
          <a:bodyPr wrap="square" lIns="45720" rIns="45720" anchor="t">
            <a:spAutoFit/>
          </a:bodyPr>
          <a:lstStyle/>
          <a:p>
            <a:pPr algn="l"/>
            <a:r>
              <a:rPr sz="1400" b="1">
                <a:solidFill>
                  <a:srgbClr val="B4C4D6"/>
                </a:solidFill>
                <a:latin typeface="Consolas"/>
              </a:rPr>
              <a:t># Run tests</a:t>
            </a:r>
          </a:p>
        </p:txBody>
      </p:sp>
      <p:sp>
        <p:nvSpPr>
          <p:cNvPr id="10" name="TextBox 8"/>
          <p:cNvSpPr txBox="1"/>
          <p:nvPr/>
        </p:nvSpPr>
        <p:spPr>
          <a:xfrm>
            <a:off x="914400" y="3072384"/>
            <a:ext cx="5760720" cy="320040"/>
          </a:xfrm>
          <a:prstGeom prst="rect">
            <a:avLst/>
          </a:prstGeom>
          <a:noFill/>
        </p:spPr>
        <p:txBody>
          <a:bodyPr wrap="square" lIns="45720" rIns="45720" anchor="t">
            <a:spAutoFit/>
          </a:bodyPr>
          <a:lstStyle/>
          <a:p>
            <a:pPr algn="l"/>
            <a:r>
              <a:rPr sz="1400" b="0">
                <a:solidFill>
                  <a:srgbClr val="F8FAFC"/>
                </a:solidFill>
                <a:latin typeface="Consolas"/>
              </a:rPr>
              <a:t>py -m unittest -v test_phase1.py</a:t>
            </a:r>
          </a:p>
        </p:txBody>
      </p:sp>
      <p:sp>
        <p:nvSpPr>
          <p:cNvPr id="11" name="TextBox 9"/>
          <p:cNvSpPr txBox="1"/>
          <p:nvPr/>
        </p:nvSpPr>
        <p:spPr>
          <a:xfrm>
            <a:off x="914400" y="3602736"/>
            <a:ext cx="5760720" cy="320040"/>
          </a:xfrm>
          <a:prstGeom prst="rect">
            <a:avLst/>
          </a:prstGeom>
          <a:noFill/>
        </p:spPr>
        <p:txBody>
          <a:bodyPr wrap="square" lIns="45720" rIns="45720" anchor="t">
            <a:spAutoFit/>
          </a:bodyPr>
          <a:lstStyle/>
          <a:p>
            <a:pPr algn="l"/>
            <a:r>
              <a:rPr sz="1400" b="1">
                <a:solidFill>
                  <a:srgbClr val="B4C4D6"/>
                </a:solidFill>
                <a:latin typeface="Consolas"/>
              </a:rPr>
              <a:t># Run simulation</a:t>
            </a:r>
          </a:p>
        </p:txBody>
      </p:sp>
      <p:sp>
        <p:nvSpPr>
          <p:cNvPr id="12" name="TextBox 10"/>
          <p:cNvSpPr txBox="1"/>
          <p:nvPr/>
        </p:nvSpPr>
        <p:spPr>
          <a:xfrm>
            <a:off x="914400" y="4133087"/>
            <a:ext cx="5760720" cy="320040"/>
          </a:xfrm>
          <a:prstGeom prst="rect">
            <a:avLst/>
          </a:prstGeom>
          <a:noFill/>
        </p:spPr>
        <p:txBody>
          <a:bodyPr wrap="square" lIns="45720" rIns="45720" anchor="t">
            <a:spAutoFit/>
          </a:bodyPr>
          <a:lstStyle/>
          <a:p>
            <a:pPr algn="l"/>
            <a:r>
              <a:rPr sz="1400" b="0">
                <a:solidFill>
                  <a:srgbClr val="F8FAFC"/>
                </a:solidFill>
                <a:latin typeface="Consolas"/>
              </a:rPr>
              <a:t>py ccsds_phase1.py</a:t>
            </a:r>
          </a:p>
        </p:txBody>
      </p:sp>
      <p:sp>
        <p:nvSpPr>
          <p:cNvPr id="13" name="TextBox 11"/>
          <p:cNvSpPr txBox="1"/>
          <p:nvPr/>
        </p:nvSpPr>
        <p:spPr>
          <a:xfrm>
            <a:off x="914400" y="4800600"/>
            <a:ext cx="5715000" cy="384048"/>
          </a:xfrm>
          <a:prstGeom prst="rect">
            <a:avLst/>
          </a:prstGeom>
          <a:noFill/>
        </p:spPr>
        <p:txBody>
          <a:bodyPr wrap="square" lIns="45720" rIns="45720" anchor="t">
            <a:spAutoFit/>
          </a:bodyPr>
          <a:lstStyle/>
          <a:p>
            <a:pPr algn="l"/>
            <a:r>
              <a:rPr sz="1200" b="1">
                <a:solidFill>
                  <a:srgbClr val="40AB81"/>
                </a:solidFill>
                <a:latin typeface="Aptos"/>
              </a:rPr>
              <a:t>Expected: 7 tests pass; reports/plots are written to results/.</a:t>
            </a:r>
          </a:p>
        </p:txBody>
      </p:sp>
      <p:sp>
        <p:nvSpPr>
          <p:cNvPr id="14" name="Rounded Rectangle 12"/>
          <p:cNvSpPr/>
          <p:nvPr/>
        </p:nvSpPr>
        <p:spPr>
          <a:xfrm>
            <a:off x="7498079" y="1828800"/>
            <a:ext cx="4023360" cy="356616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3"/>
          <p:cNvSpPr txBox="1"/>
          <p:nvPr/>
        </p:nvSpPr>
        <p:spPr>
          <a:xfrm>
            <a:off x="7772400" y="2057400"/>
            <a:ext cx="3474720" cy="274320"/>
          </a:xfrm>
          <a:prstGeom prst="rect">
            <a:avLst/>
          </a:prstGeom>
          <a:noFill/>
        </p:spPr>
        <p:txBody>
          <a:bodyPr wrap="square" lIns="45720" rIns="45720" anchor="t">
            <a:spAutoFit/>
          </a:bodyPr>
          <a:lstStyle/>
          <a:p>
            <a:pPr algn="l"/>
            <a:r>
              <a:rPr sz="1000" b="1">
                <a:solidFill>
                  <a:srgbClr val="50C8D2"/>
                </a:solidFill>
                <a:latin typeface="Aptos"/>
              </a:rPr>
              <a:t>EXAMPLE RECOVERED DATA</a:t>
            </a:r>
          </a:p>
        </p:txBody>
      </p:sp>
      <p:sp>
        <p:nvSpPr>
          <p:cNvPr id="16" name="Rounded Rectangle 14"/>
          <p:cNvSpPr/>
          <p:nvPr/>
        </p:nvSpPr>
        <p:spPr>
          <a:xfrm>
            <a:off x="7772400" y="2587752"/>
            <a:ext cx="621792" cy="347472"/>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5"/>
          <p:cNvSpPr txBox="1"/>
          <p:nvPr/>
        </p:nvSpPr>
        <p:spPr>
          <a:xfrm>
            <a:off x="7845552" y="2638044"/>
            <a:ext cx="475488" cy="228600"/>
          </a:xfrm>
          <a:prstGeom prst="rect">
            <a:avLst/>
          </a:prstGeom>
          <a:noFill/>
        </p:spPr>
        <p:txBody>
          <a:bodyPr wrap="square" lIns="45720" rIns="45720" anchor="ctr">
            <a:spAutoFit/>
          </a:bodyPr>
          <a:lstStyle/>
          <a:p>
            <a:pPr algn="ctr"/>
            <a:r>
              <a:rPr sz="1000" b="1">
                <a:solidFill>
                  <a:srgbClr val="F8FAFC"/>
                </a:solidFill>
                <a:latin typeface="Aptos"/>
              </a:rPr>
              <a:t>VC0</a:t>
            </a:r>
          </a:p>
        </p:txBody>
      </p:sp>
      <p:sp>
        <p:nvSpPr>
          <p:cNvPr id="18" name="TextBox 16"/>
          <p:cNvSpPr txBox="1"/>
          <p:nvPr/>
        </p:nvSpPr>
        <p:spPr>
          <a:xfrm>
            <a:off x="8522208" y="2606040"/>
            <a:ext cx="2651760" cy="484632"/>
          </a:xfrm>
          <a:prstGeom prst="rect">
            <a:avLst/>
          </a:prstGeom>
          <a:noFill/>
        </p:spPr>
        <p:txBody>
          <a:bodyPr wrap="square" lIns="45720" rIns="45720" anchor="t">
            <a:spAutoFit/>
          </a:bodyPr>
          <a:lstStyle/>
          <a:p>
            <a:pPr algn="l"/>
            <a:r>
              <a:rPr sz="1100" b="0">
                <a:solidFill>
                  <a:srgbClr val="E5EDF6"/>
                </a:solidFill>
                <a:latin typeface="Aptos"/>
              </a:rPr>
              <a:t>TEMP=22.6C; BAT=85%; MODE=OK</a:t>
            </a:r>
          </a:p>
        </p:txBody>
      </p:sp>
      <p:sp>
        <p:nvSpPr>
          <p:cNvPr id="19" name="Rounded Rectangle 17"/>
          <p:cNvSpPr/>
          <p:nvPr/>
        </p:nvSpPr>
        <p:spPr>
          <a:xfrm>
            <a:off x="7772400" y="3392424"/>
            <a:ext cx="621792" cy="347472"/>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8"/>
          <p:cNvSpPr txBox="1"/>
          <p:nvPr/>
        </p:nvSpPr>
        <p:spPr>
          <a:xfrm>
            <a:off x="7845552" y="3442716"/>
            <a:ext cx="475488" cy="228600"/>
          </a:xfrm>
          <a:prstGeom prst="rect">
            <a:avLst/>
          </a:prstGeom>
          <a:noFill/>
        </p:spPr>
        <p:txBody>
          <a:bodyPr wrap="square" lIns="45720" rIns="45720" anchor="ctr">
            <a:spAutoFit/>
          </a:bodyPr>
          <a:lstStyle/>
          <a:p>
            <a:pPr algn="ctr"/>
            <a:r>
              <a:rPr sz="1000" b="1">
                <a:solidFill>
                  <a:srgbClr val="F8FAFC"/>
                </a:solidFill>
                <a:latin typeface="Aptos"/>
              </a:rPr>
              <a:t>VC1</a:t>
            </a:r>
          </a:p>
        </p:txBody>
      </p:sp>
      <p:sp>
        <p:nvSpPr>
          <p:cNvPr id="21" name="TextBox 19"/>
          <p:cNvSpPr txBox="1"/>
          <p:nvPr/>
        </p:nvSpPr>
        <p:spPr>
          <a:xfrm>
            <a:off x="8522208" y="3410712"/>
            <a:ext cx="2651760" cy="484632"/>
          </a:xfrm>
          <a:prstGeom prst="rect">
            <a:avLst/>
          </a:prstGeom>
          <a:noFill/>
        </p:spPr>
        <p:txBody>
          <a:bodyPr wrap="square" lIns="45720" rIns="45720" anchor="t">
            <a:spAutoFit/>
          </a:bodyPr>
          <a:lstStyle/>
          <a:p>
            <a:pPr algn="l"/>
            <a:r>
              <a:rPr sz="1100" b="0">
                <a:solidFill>
                  <a:srgbClr val="E5EDF6"/>
                </a:solidFill>
                <a:latin typeface="Aptos"/>
              </a:rPr>
              <a:t>BUS=3.70V; SOLAR=13.0W</a:t>
            </a:r>
          </a:p>
        </p:txBody>
      </p:sp>
      <p:sp>
        <p:nvSpPr>
          <p:cNvPr id="22" name="Rounded Rectangle 20"/>
          <p:cNvSpPr/>
          <p:nvPr/>
        </p:nvSpPr>
        <p:spPr>
          <a:xfrm>
            <a:off x="7772400" y="4197096"/>
            <a:ext cx="621792" cy="347472"/>
          </a:xfrm>
          <a:prstGeom prst="roundRect">
            <a:avLst/>
          </a:prstGeom>
          <a:solidFill>
            <a:srgbClr val="9B6F3B"/>
          </a:solidFill>
          <a:ln>
            <a:solidFill>
              <a:srgbClr val="9B6F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1"/>
          <p:cNvSpPr txBox="1"/>
          <p:nvPr/>
        </p:nvSpPr>
        <p:spPr>
          <a:xfrm>
            <a:off x="7845552" y="4247388"/>
            <a:ext cx="475488" cy="228600"/>
          </a:xfrm>
          <a:prstGeom prst="rect">
            <a:avLst/>
          </a:prstGeom>
          <a:noFill/>
        </p:spPr>
        <p:txBody>
          <a:bodyPr wrap="square" lIns="45720" rIns="45720" anchor="ctr">
            <a:spAutoFit/>
          </a:bodyPr>
          <a:lstStyle/>
          <a:p>
            <a:pPr algn="ctr"/>
            <a:r>
              <a:rPr sz="1000" b="1">
                <a:solidFill>
                  <a:srgbClr val="F8FAFC"/>
                </a:solidFill>
                <a:latin typeface="Aptos"/>
              </a:rPr>
              <a:t>VC2</a:t>
            </a:r>
          </a:p>
        </p:txBody>
      </p:sp>
      <p:sp>
        <p:nvSpPr>
          <p:cNvPr id="24" name="TextBox 22"/>
          <p:cNvSpPr txBox="1"/>
          <p:nvPr/>
        </p:nvSpPr>
        <p:spPr>
          <a:xfrm>
            <a:off x="8522208" y="4215383"/>
            <a:ext cx="2651760" cy="484632"/>
          </a:xfrm>
          <a:prstGeom prst="rect">
            <a:avLst/>
          </a:prstGeom>
          <a:noFill/>
        </p:spPr>
        <p:txBody>
          <a:bodyPr wrap="square" lIns="45720" rIns="45720" anchor="t">
            <a:spAutoFit/>
          </a:bodyPr>
          <a:lstStyle/>
          <a:p>
            <a:pPr algn="l"/>
            <a:r>
              <a:rPr sz="1100" b="0">
                <a:solidFill>
                  <a:srgbClr val="E5EDF6"/>
                </a:solidFill>
                <a:latin typeface="Aptos"/>
              </a:rPr>
              <a:t>PITCH=-0.6; ROLL=-0.2; YAW=87</a:t>
            </a:r>
          </a:p>
        </p:txBody>
      </p:sp>
      <p:sp>
        <p:nvSpPr>
          <p:cNvPr id="25" name="TextBox 23"/>
          <p:cNvSpPr txBox="1"/>
          <p:nvPr/>
        </p:nvSpPr>
        <p:spPr>
          <a:xfrm>
            <a:off x="758952" y="5669280"/>
            <a:ext cx="10515600" cy="384048"/>
          </a:xfrm>
          <a:prstGeom prst="rect">
            <a:avLst/>
          </a:prstGeom>
          <a:noFill/>
        </p:spPr>
        <p:txBody>
          <a:bodyPr wrap="square" lIns="45720" rIns="45720" anchor="t">
            <a:spAutoFit/>
          </a:bodyPr>
          <a:lstStyle/>
          <a:p>
            <a:pPr algn="l"/>
            <a:r>
              <a:rPr sz="1300" b="1">
                <a:solidFill>
                  <a:srgbClr val="F5B942"/>
                </a:solidFill>
                <a:latin typeface="Aptos"/>
              </a:rPr>
              <a:t>Next: the same design in Verilog, a self-checking RTL regression, and FPGA results.</a:t>
            </a:r>
          </a:p>
        </p:txBody>
      </p:sp>
      <p:sp>
        <p:nvSpPr>
          <p:cNvPr id="26" name="TextBox 24"/>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27" name="TextBox 25"/>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08 / ENGINEERING HONESTY</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What is proven — and what remains future work</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Everything on this slide can be reproduced from the repository.</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5"/>
          <p:cNvSpPr/>
          <p:nvPr/>
        </p:nvSpPr>
        <p:spPr>
          <a:xfrm>
            <a:off x="640080" y="1828800"/>
            <a:ext cx="5303520" cy="361188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6"/>
          <p:cNvSpPr txBox="1"/>
          <p:nvPr/>
        </p:nvSpPr>
        <p:spPr>
          <a:xfrm>
            <a:off x="914400" y="2084831"/>
            <a:ext cx="4754880" cy="310896"/>
          </a:xfrm>
          <a:prstGeom prst="rect">
            <a:avLst/>
          </a:prstGeom>
          <a:noFill/>
        </p:spPr>
        <p:txBody>
          <a:bodyPr wrap="square" lIns="45720" rIns="45720" anchor="t">
            <a:spAutoFit/>
          </a:bodyPr>
          <a:lstStyle/>
          <a:p>
            <a:pPr algn="l"/>
            <a:r>
              <a:rPr sz="1200" b="1">
                <a:solidFill>
                  <a:srgbClr val="40AB81"/>
                </a:solidFill>
                <a:latin typeface="Aptos"/>
              </a:rPr>
              <a:t>IMPLEMENTED / VERIFIED IN THIS REPOSITORY</a:t>
            </a:r>
          </a:p>
        </p:txBody>
      </p:sp>
      <p:sp>
        <p:nvSpPr>
          <p:cNvPr id="9" name="Oval 7"/>
          <p:cNvSpPr/>
          <p:nvPr/>
        </p:nvSpPr>
        <p:spPr>
          <a:xfrm>
            <a:off x="914400" y="2743200"/>
            <a:ext cx="109728" cy="109728"/>
          </a:xfrm>
          <a:prstGeom prst="ellipse">
            <a:avLst/>
          </a:prstGeom>
          <a:solidFill>
            <a:srgbClr val="40A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8"/>
          <p:cNvSpPr txBox="1"/>
          <p:nvPr/>
        </p:nvSpPr>
        <p:spPr>
          <a:xfrm>
            <a:off x="1143000" y="2651760"/>
            <a:ext cx="4480560" cy="466344"/>
          </a:xfrm>
          <a:prstGeom prst="rect">
            <a:avLst/>
          </a:prstGeom>
          <a:noFill/>
        </p:spPr>
        <p:txBody>
          <a:bodyPr wrap="square" lIns="45720" rIns="45720" anchor="t">
            <a:spAutoFit/>
          </a:bodyPr>
          <a:lstStyle/>
          <a:p>
            <a:pPr algn="l"/>
            <a:r>
              <a:rPr sz="1300" b="0">
                <a:solidFill>
                  <a:srgbClr val="E5EDF6"/>
                </a:solidFill>
                <a:latin typeface="Aptos"/>
              </a:rPr>
              <a:t>Level 1: Python BPSK/AWGN model, 7 automated tests pass.</a:t>
            </a:r>
          </a:p>
        </p:txBody>
      </p:sp>
      <p:sp>
        <p:nvSpPr>
          <p:cNvPr id="11" name="Oval 9"/>
          <p:cNvSpPr/>
          <p:nvPr/>
        </p:nvSpPr>
        <p:spPr>
          <a:xfrm>
            <a:off x="914400" y="3227832"/>
            <a:ext cx="109728" cy="109728"/>
          </a:xfrm>
          <a:prstGeom prst="ellipse">
            <a:avLst/>
          </a:prstGeom>
          <a:solidFill>
            <a:srgbClr val="40A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0"/>
          <p:cNvSpPr txBox="1"/>
          <p:nvPr/>
        </p:nvSpPr>
        <p:spPr>
          <a:xfrm>
            <a:off x="1143000" y="3136391"/>
            <a:ext cx="4480560" cy="466344"/>
          </a:xfrm>
          <a:prstGeom prst="rect">
            <a:avLst/>
          </a:prstGeom>
          <a:noFill/>
        </p:spPr>
        <p:txBody>
          <a:bodyPr wrap="square" lIns="45720" rIns="45720" anchor="t">
            <a:spAutoFit/>
          </a:bodyPr>
          <a:lstStyle/>
          <a:p>
            <a:pPr algn="l"/>
            <a:r>
              <a:rPr sz="1300" b="0">
                <a:solidFill>
                  <a:srgbClr val="E5EDF6"/>
                </a:solidFill>
                <a:latin typeface="Aptos"/>
              </a:rPr>
              <a:t>Level 2: Verilog RTL, 16 / 16 self-checking scenarios pass.</a:t>
            </a:r>
          </a:p>
        </p:txBody>
      </p:sp>
      <p:sp>
        <p:nvSpPr>
          <p:cNvPr id="13" name="Oval 11"/>
          <p:cNvSpPr/>
          <p:nvPr/>
        </p:nvSpPr>
        <p:spPr>
          <a:xfrm>
            <a:off x="914400" y="3712463"/>
            <a:ext cx="109728" cy="109728"/>
          </a:xfrm>
          <a:prstGeom prst="ellipse">
            <a:avLst/>
          </a:prstGeom>
          <a:solidFill>
            <a:srgbClr val="40A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2"/>
          <p:cNvSpPr txBox="1"/>
          <p:nvPr/>
        </p:nvSpPr>
        <p:spPr>
          <a:xfrm>
            <a:off x="1143000" y="3621024"/>
            <a:ext cx="4480560" cy="466344"/>
          </a:xfrm>
          <a:prstGeom prst="rect">
            <a:avLst/>
          </a:prstGeom>
          <a:noFill/>
        </p:spPr>
        <p:txBody>
          <a:bodyPr wrap="square" lIns="45720" rIns="45720" anchor="t">
            <a:spAutoFit/>
          </a:bodyPr>
          <a:lstStyle/>
          <a:p>
            <a:pPr algn="l"/>
            <a:r>
              <a:rPr sz="1300" b="0">
                <a:solidFill>
                  <a:srgbClr val="E5EDF6"/>
                </a:solidFill>
                <a:latin typeface="Aptos"/>
              </a:rPr>
              <a:t>Bit slips (±4 bits), inverted polarity, flywheel, VC extraction.</a:t>
            </a:r>
          </a:p>
        </p:txBody>
      </p:sp>
      <p:sp>
        <p:nvSpPr>
          <p:cNvPr id="15" name="Oval 13"/>
          <p:cNvSpPr/>
          <p:nvPr/>
        </p:nvSpPr>
        <p:spPr>
          <a:xfrm>
            <a:off x="914400" y="4197096"/>
            <a:ext cx="109728" cy="109728"/>
          </a:xfrm>
          <a:prstGeom prst="ellipse">
            <a:avLst/>
          </a:prstGeom>
          <a:solidFill>
            <a:srgbClr val="40A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4"/>
          <p:cNvSpPr txBox="1"/>
          <p:nvPr/>
        </p:nvSpPr>
        <p:spPr>
          <a:xfrm>
            <a:off x="1143000" y="4105656"/>
            <a:ext cx="4480560" cy="466344"/>
          </a:xfrm>
          <a:prstGeom prst="rect">
            <a:avLst/>
          </a:prstGeom>
          <a:noFill/>
        </p:spPr>
        <p:txBody>
          <a:bodyPr wrap="square" lIns="45720" rIns="45720" anchor="t">
            <a:spAutoFit/>
          </a:bodyPr>
          <a:lstStyle/>
          <a:p>
            <a:pPr algn="l"/>
            <a:r>
              <a:rPr sz="1300" b="0">
                <a:solidFill>
                  <a:srgbClr val="E5EDF6"/>
                </a:solidFill>
                <a:latin typeface="Aptos"/>
              </a:rPr>
              <a:t>Level 3: iCE40 synthesis, 69.9–80.2 MHz post-route (target 50 MHz).</a:t>
            </a:r>
          </a:p>
        </p:txBody>
      </p:sp>
      <p:sp>
        <p:nvSpPr>
          <p:cNvPr id="17" name="Oval 15"/>
          <p:cNvSpPr/>
          <p:nvPr/>
        </p:nvSpPr>
        <p:spPr>
          <a:xfrm>
            <a:off x="914400" y="4681727"/>
            <a:ext cx="109728" cy="109728"/>
          </a:xfrm>
          <a:prstGeom prst="ellipse">
            <a:avLst/>
          </a:prstGeom>
          <a:solidFill>
            <a:srgbClr val="40A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6"/>
          <p:cNvSpPr txBox="1"/>
          <p:nvPr/>
        </p:nvSpPr>
        <p:spPr>
          <a:xfrm>
            <a:off x="1143000" y="4590288"/>
            <a:ext cx="4480560" cy="466344"/>
          </a:xfrm>
          <a:prstGeom prst="rect">
            <a:avLst/>
          </a:prstGeom>
          <a:noFill/>
        </p:spPr>
        <p:txBody>
          <a:bodyPr wrap="square" lIns="45720" rIns="45720" anchor="t">
            <a:spAutoFit/>
          </a:bodyPr>
          <a:lstStyle/>
          <a:p>
            <a:pPr algn="l"/>
            <a:r>
              <a:rPr sz="1300" b="0">
                <a:solidFill>
                  <a:srgbClr val="E5EDF6"/>
                </a:solidFill>
                <a:latin typeface="Aptos"/>
              </a:rPr>
              <a:t>Golden model, ground-truth checks and a bug-injection test.</a:t>
            </a:r>
          </a:p>
        </p:txBody>
      </p:sp>
      <p:sp>
        <p:nvSpPr>
          <p:cNvPr id="19" name="Rounded Rectangle 17"/>
          <p:cNvSpPr/>
          <p:nvPr/>
        </p:nvSpPr>
        <p:spPr>
          <a:xfrm>
            <a:off x="6263640" y="1828800"/>
            <a:ext cx="5303520" cy="361188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8"/>
          <p:cNvSpPr txBox="1"/>
          <p:nvPr/>
        </p:nvSpPr>
        <p:spPr>
          <a:xfrm>
            <a:off x="6537960" y="2084831"/>
            <a:ext cx="4754880" cy="310896"/>
          </a:xfrm>
          <a:prstGeom prst="rect">
            <a:avLst/>
          </a:prstGeom>
          <a:noFill/>
        </p:spPr>
        <p:txBody>
          <a:bodyPr wrap="square" lIns="45720" rIns="45720" anchor="t">
            <a:spAutoFit/>
          </a:bodyPr>
          <a:lstStyle/>
          <a:p>
            <a:pPr algn="l"/>
            <a:r>
              <a:rPr sz="1200" b="1">
                <a:solidFill>
                  <a:srgbClr val="F5B942"/>
                </a:solidFill>
                <a:latin typeface="Aptos"/>
              </a:rPr>
              <a:t>LIMITATIONS / NOT CLAIMED</a:t>
            </a:r>
          </a:p>
        </p:txBody>
      </p:sp>
      <p:sp>
        <p:nvSpPr>
          <p:cNvPr id="21" name="Oval 19"/>
          <p:cNvSpPr/>
          <p:nvPr/>
        </p:nvSpPr>
        <p:spPr>
          <a:xfrm>
            <a:off x="6537960" y="274320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0"/>
          <p:cNvSpPr txBox="1"/>
          <p:nvPr/>
        </p:nvSpPr>
        <p:spPr>
          <a:xfrm>
            <a:off x="6766560" y="2651760"/>
            <a:ext cx="4434840" cy="466344"/>
          </a:xfrm>
          <a:prstGeom prst="rect">
            <a:avLst/>
          </a:prstGeom>
          <a:noFill/>
        </p:spPr>
        <p:txBody>
          <a:bodyPr wrap="square" lIns="45720" rIns="45720" anchor="t">
            <a:spAutoFit/>
          </a:bodyPr>
          <a:lstStyle/>
          <a:p>
            <a:pPr algn="l"/>
            <a:r>
              <a:rPr sz="1300" b="0">
                <a:solidFill>
                  <a:srgbClr val="E5EDF6"/>
                </a:solidFill>
                <a:latin typeface="Aptos"/>
              </a:rPr>
              <a:t>Hard-decision input only; frame length is fixed per build.</a:t>
            </a:r>
          </a:p>
        </p:txBody>
      </p:sp>
      <p:sp>
        <p:nvSpPr>
          <p:cNvPr id="23" name="Oval 21"/>
          <p:cNvSpPr/>
          <p:nvPr/>
        </p:nvSpPr>
        <p:spPr>
          <a:xfrm>
            <a:off x="6537960" y="3227832"/>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2"/>
          <p:cNvSpPr txBox="1"/>
          <p:nvPr/>
        </p:nvSpPr>
        <p:spPr>
          <a:xfrm>
            <a:off x="6766560" y="3136391"/>
            <a:ext cx="4434840" cy="466344"/>
          </a:xfrm>
          <a:prstGeom prst="rect">
            <a:avLst/>
          </a:prstGeom>
          <a:noFill/>
        </p:spPr>
        <p:txBody>
          <a:bodyPr wrap="square" lIns="45720" rIns="45720" anchor="t">
            <a:spAutoFit/>
          </a:bodyPr>
          <a:lstStyle/>
          <a:p>
            <a:pPr algn="l"/>
            <a:r>
              <a:rPr sz="1300" b="0">
                <a:solidFill>
                  <a:srgbClr val="E5EDF6"/>
                </a:solidFill>
                <a:latin typeface="Aptos"/>
              </a:rPr>
              <a:t>No physical board, RF front end, carrier recovery or FEC decoder.</a:t>
            </a:r>
          </a:p>
        </p:txBody>
      </p:sp>
      <p:sp>
        <p:nvSpPr>
          <p:cNvPr id="25" name="Oval 23"/>
          <p:cNvSpPr/>
          <p:nvPr/>
        </p:nvSpPr>
        <p:spPr>
          <a:xfrm>
            <a:off x="6537960" y="3712463"/>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4"/>
          <p:cNvSpPr txBox="1"/>
          <p:nvPr/>
        </p:nvSpPr>
        <p:spPr>
          <a:xfrm>
            <a:off x="6766560" y="3621024"/>
            <a:ext cx="4434840" cy="466344"/>
          </a:xfrm>
          <a:prstGeom prst="rect">
            <a:avLst/>
          </a:prstGeom>
          <a:noFill/>
        </p:spPr>
        <p:txBody>
          <a:bodyPr wrap="square" lIns="45720" rIns="45720" anchor="t">
            <a:spAutoFit/>
          </a:bodyPr>
          <a:lstStyle/>
          <a:p>
            <a:pPr algn="l"/>
            <a:r>
              <a:rPr sz="1300" b="0">
                <a:solidFill>
                  <a:srgbClr val="E5EDF6"/>
                </a:solidFill>
                <a:latin typeface="Aptos"/>
              </a:rPr>
              <a:t>Timing is from the open-source flow, not from Vivado.</a:t>
            </a:r>
          </a:p>
        </p:txBody>
      </p:sp>
      <p:sp>
        <p:nvSpPr>
          <p:cNvPr id="27" name="Oval 25"/>
          <p:cNvSpPr/>
          <p:nvPr/>
        </p:nvSpPr>
        <p:spPr>
          <a:xfrm>
            <a:off x="6537960" y="4197096"/>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6"/>
          <p:cNvSpPr txBox="1"/>
          <p:nvPr/>
        </p:nvSpPr>
        <p:spPr>
          <a:xfrm>
            <a:off x="6766560" y="4105656"/>
            <a:ext cx="4434840" cy="466344"/>
          </a:xfrm>
          <a:prstGeom prst="rect">
            <a:avLst/>
          </a:prstGeom>
          <a:noFill/>
        </p:spPr>
        <p:txBody>
          <a:bodyPr wrap="square" lIns="45720" rIns="45720" anchor="t">
            <a:spAutoFit/>
          </a:bodyPr>
          <a:lstStyle/>
          <a:p>
            <a:pPr algn="l"/>
            <a:r>
              <a:rPr sz="1300" b="0">
                <a:solidFill>
                  <a:srgbClr val="E5EDF6"/>
                </a:solidFill>
                <a:latin typeface="Aptos"/>
              </a:rPr>
              <a:t>Tolerances come from our own simulation study, not the standard.</a:t>
            </a:r>
          </a:p>
        </p:txBody>
      </p:sp>
      <p:sp>
        <p:nvSpPr>
          <p:cNvPr id="29" name="Oval 27"/>
          <p:cNvSpPr/>
          <p:nvPr/>
        </p:nvSpPr>
        <p:spPr>
          <a:xfrm>
            <a:off x="6537960" y="4681727"/>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8"/>
          <p:cNvSpPr txBox="1"/>
          <p:nvPr/>
        </p:nvSpPr>
        <p:spPr>
          <a:xfrm>
            <a:off x="6766560" y="4590288"/>
            <a:ext cx="4434840" cy="466344"/>
          </a:xfrm>
          <a:prstGeom prst="rect">
            <a:avLst/>
          </a:prstGeom>
          <a:noFill/>
        </p:spPr>
        <p:txBody>
          <a:bodyPr wrap="square" lIns="45720" rIns="45720" anchor="t">
            <a:spAutoFit/>
          </a:bodyPr>
          <a:lstStyle/>
          <a:p>
            <a:pPr algn="l"/>
            <a:r>
              <a:rPr sz="1300" b="0">
                <a:solidFill>
                  <a:srgbClr val="E5EDF6"/>
                </a:solidFill>
                <a:latin typeface="Aptos"/>
              </a:rPr>
              <a:t>Next: soft-decision input and a Vivado timing report.</a:t>
            </a:r>
          </a:p>
        </p:txBody>
      </p:sp>
      <p:sp>
        <p:nvSpPr>
          <p:cNvPr id="31" name="TextBox 29"/>
          <p:cNvSpPr txBox="1"/>
          <p:nvPr/>
        </p:nvSpPr>
        <p:spPr>
          <a:xfrm>
            <a:off x="777240" y="5715000"/>
            <a:ext cx="10607040" cy="347472"/>
          </a:xfrm>
          <a:prstGeom prst="rect">
            <a:avLst/>
          </a:prstGeom>
          <a:noFill/>
        </p:spPr>
        <p:txBody>
          <a:bodyPr wrap="square" lIns="45720" rIns="45720" anchor="t">
            <a:spAutoFit/>
          </a:bodyPr>
          <a:lstStyle/>
          <a:p>
            <a:pPr algn="ctr"/>
            <a:r>
              <a:rPr sz="1600" b="1">
                <a:solidFill>
                  <a:srgbClr val="50C8D2"/>
                </a:solidFill>
                <a:latin typeface="Aptos"/>
              </a:rPr>
              <a:t>“We scan every bit, verify before we trust, survive slips, and prove it by simulation.”</a:t>
            </a:r>
          </a:p>
        </p:txBody>
      </p:sp>
      <p:sp>
        <p:nvSpPr>
          <p:cNvPr id="32" name="TextBox 30"/>
          <p:cNvSpPr txBox="1"/>
          <p:nvPr/>
        </p:nvSpPr>
        <p:spPr>
          <a:xfrm>
            <a:off x="777240" y="6144768"/>
            <a:ext cx="10607040" cy="201168"/>
          </a:xfrm>
          <a:prstGeom prst="rect">
            <a:avLst/>
          </a:prstGeom>
          <a:noFill/>
        </p:spPr>
        <p:txBody>
          <a:bodyPr wrap="square" lIns="45720" rIns="45720" anchor="t">
            <a:spAutoFit/>
          </a:bodyPr>
          <a:lstStyle/>
          <a:p>
            <a:pPr algn="ctr"/>
            <a:r>
              <a:rPr sz="800" b="0">
                <a:solidFill>
                  <a:srgbClr val="B4C4D6"/>
                </a:solidFill>
                <a:latin typeface="Aptos"/>
              </a:rPr>
              <a:t>References: CCSDS 131.0-B (TM Synchronization and Channel Coding); CCSDS 132.0-B-3 (TM Space Data Link Protocol). See technical report.</a:t>
            </a:r>
          </a:p>
        </p:txBody>
      </p:sp>
      <p:sp>
        <p:nvSpPr>
          <p:cNvPr id="33" name="TextBox 31"/>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34" name="TextBox 32"/>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05 / LEVEL 2 • RTL ARCHITECTURE</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From Python to hardware: a clocked receiver</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One bit per clock. Same algorithm as the Level 1 model, written as synthesizable Verilog.</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24"/>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8" name="TextBox 25"/>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06</a:t>
            </a:r>
          </a:p>
        </p:txBody>
      </p:sp>
      <p:sp>
        <p:nvSpPr>
          <p:cNvPr id="9" name="Pipeline band"/>
          <p:cNvSpPr/>
          <p:nvPr/>
        </p:nvSpPr>
        <p:spPr>
          <a:xfrm>
            <a:off x="640080" y="1783080"/>
            <a:ext cx="10927080" cy="118872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lock 1"/>
          <p:cNvSpPr/>
          <p:nvPr/>
        </p:nvSpPr>
        <p:spPr>
          <a:xfrm>
            <a:off x="868680" y="1920240"/>
            <a:ext cx="1874519" cy="914400"/>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lock title 1"/>
          <p:cNvSpPr txBox="1"/>
          <p:nvPr/>
        </p:nvSpPr>
        <p:spPr>
          <a:xfrm>
            <a:off x="914400" y="1984248"/>
            <a:ext cx="1783079" cy="310896"/>
          </a:xfrm>
          <a:prstGeom prst="rect">
            <a:avLst/>
          </a:prstGeom>
          <a:noFill/>
        </p:spPr>
        <p:txBody>
          <a:bodyPr wrap="square" lIns="45720" rIns="45720" anchor="t">
            <a:noAutofit/>
          </a:bodyPr>
          <a:lstStyle/>
          <a:p>
            <a:pPr algn="ctr"/>
            <a:r>
              <a:rPr sz="1200" b="1">
                <a:solidFill>
                  <a:srgbClr val="F8FAFC"/>
                </a:solidFill>
                <a:latin typeface="Aptos"/>
              </a:rPr>
              <a:t>Shift register</a:t>
            </a:r>
          </a:p>
        </p:txBody>
      </p:sp>
      <p:sp>
        <p:nvSpPr>
          <p:cNvPr id="12" name="Block text 1"/>
          <p:cNvSpPr txBox="1"/>
          <p:nvPr/>
        </p:nvSpPr>
        <p:spPr>
          <a:xfrm>
            <a:off x="914400" y="2304288"/>
            <a:ext cx="1783079" cy="457200"/>
          </a:xfrm>
          <a:prstGeom prst="rect">
            <a:avLst/>
          </a:prstGeom>
          <a:noFill/>
        </p:spPr>
        <p:txBody>
          <a:bodyPr wrap="square" lIns="45720" rIns="45720" anchor="t">
            <a:noAutofit/>
          </a:bodyPr>
          <a:lstStyle/>
          <a:p>
            <a:pPr algn="ctr"/>
            <a:r>
              <a:rPr sz="1100" b="0">
                <a:solidFill>
                  <a:srgbClr val="F8FAFC"/>
                </a:solidFill>
                <a:latin typeface="Aptos"/>
              </a:rPr>
              <a:t>32 bits, one new bit per clock</a:t>
            </a:r>
          </a:p>
        </p:txBody>
      </p:sp>
      <p:sp>
        <p:nvSpPr>
          <p:cNvPr id="13" name="Arrow 1"/>
          <p:cNvSpPr txBox="1"/>
          <p:nvPr/>
        </p:nvSpPr>
        <p:spPr>
          <a:xfrm>
            <a:off x="2743200" y="2176272"/>
            <a:ext cx="274320" cy="365760"/>
          </a:xfrm>
          <a:prstGeom prst="rect">
            <a:avLst/>
          </a:prstGeom>
          <a:noFill/>
        </p:spPr>
        <p:txBody>
          <a:bodyPr wrap="square" lIns="45720" rIns="45720" anchor="t">
            <a:noAutofit/>
          </a:bodyPr>
          <a:lstStyle/>
          <a:p>
            <a:pPr algn="ctr"/>
            <a:r>
              <a:rPr sz="1800" b="1">
                <a:solidFill>
                  <a:srgbClr val="50C8D2"/>
                </a:solidFill>
                <a:latin typeface="Aptos"/>
              </a:rPr>
              <a:t>→</a:t>
            </a:r>
          </a:p>
        </p:txBody>
      </p:sp>
      <p:sp>
        <p:nvSpPr>
          <p:cNvPr id="14" name="Block 2"/>
          <p:cNvSpPr/>
          <p:nvPr/>
        </p:nvSpPr>
        <p:spPr>
          <a:xfrm>
            <a:off x="3017520" y="1920240"/>
            <a:ext cx="1874519" cy="914400"/>
          </a:xfrm>
          <a:prstGeom prst="roundRect">
            <a:avLst/>
          </a:prstGeom>
          <a:solidFill>
            <a:srgbClr val="3573B5"/>
          </a:solidFill>
          <a:ln>
            <a:solidFill>
              <a:srgbClr val="3573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lock title 2"/>
          <p:cNvSpPr txBox="1"/>
          <p:nvPr/>
        </p:nvSpPr>
        <p:spPr>
          <a:xfrm>
            <a:off x="3063239" y="1984248"/>
            <a:ext cx="1783079" cy="310896"/>
          </a:xfrm>
          <a:prstGeom prst="rect">
            <a:avLst/>
          </a:prstGeom>
          <a:noFill/>
        </p:spPr>
        <p:txBody>
          <a:bodyPr wrap="square" lIns="45720" rIns="45720" anchor="t">
            <a:noAutofit/>
          </a:bodyPr>
          <a:lstStyle/>
          <a:p>
            <a:pPr algn="ctr"/>
            <a:r>
              <a:rPr sz="1200" b="1">
                <a:solidFill>
                  <a:srgbClr val="F8FAFC"/>
                </a:solidFill>
                <a:latin typeface="Aptos"/>
              </a:rPr>
              <a:t>Distance to marker</a:t>
            </a:r>
          </a:p>
        </p:txBody>
      </p:sp>
      <p:sp>
        <p:nvSpPr>
          <p:cNvPr id="16" name="Block text 2"/>
          <p:cNvSpPr txBox="1"/>
          <p:nvPr/>
        </p:nvSpPr>
        <p:spPr>
          <a:xfrm>
            <a:off x="3063239" y="2304288"/>
            <a:ext cx="1783079" cy="457200"/>
          </a:xfrm>
          <a:prstGeom prst="rect">
            <a:avLst/>
          </a:prstGeom>
          <a:noFill/>
        </p:spPr>
        <p:txBody>
          <a:bodyPr wrap="square" lIns="45720" rIns="45720" anchor="t">
            <a:noAutofit/>
          </a:bodyPr>
          <a:lstStyle/>
          <a:p>
            <a:pPr algn="ctr"/>
            <a:r>
              <a:rPr sz="1100" b="0">
                <a:solidFill>
                  <a:srgbClr val="F8FAFC"/>
                </a:solidFill>
                <a:latin typeface="Aptos"/>
              </a:rPr>
              <a:t>registered adder tree counts wrong bits</a:t>
            </a:r>
          </a:p>
        </p:txBody>
      </p:sp>
      <p:sp>
        <p:nvSpPr>
          <p:cNvPr id="17" name="Arrow 2"/>
          <p:cNvSpPr txBox="1"/>
          <p:nvPr/>
        </p:nvSpPr>
        <p:spPr>
          <a:xfrm>
            <a:off x="4892040" y="2176272"/>
            <a:ext cx="274320" cy="365760"/>
          </a:xfrm>
          <a:prstGeom prst="rect">
            <a:avLst/>
          </a:prstGeom>
          <a:noFill/>
        </p:spPr>
        <p:txBody>
          <a:bodyPr wrap="square" lIns="45720" rIns="45720" anchor="t">
            <a:noAutofit/>
          </a:bodyPr>
          <a:lstStyle/>
          <a:p>
            <a:pPr algn="ctr"/>
            <a:r>
              <a:rPr sz="1800" b="1">
                <a:solidFill>
                  <a:srgbClr val="50C8D2"/>
                </a:solidFill>
                <a:latin typeface="Aptos"/>
              </a:rPr>
              <a:t>→</a:t>
            </a:r>
          </a:p>
        </p:txBody>
      </p:sp>
      <p:sp>
        <p:nvSpPr>
          <p:cNvPr id="18" name="Block 3"/>
          <p:cNvSpPr/>
          <p:nvPr/>
        </p:nvSpPr>
        <p:spPr>
          <a:xfrm>
            <a:off x="5166359" y="1920240"/>
            <a:ext cx="1874519" cy="914400"/>
          </a:xfrm>
          <a:prstGeom prst="roundRect">
            <a:avLst/>
          </a:prstGeom>
          <a:solidFill>
            <a:srgbClr val="50C8D2"/>
          </a:solidFill>
          <a:ln>
            <a:solidFill>
              <a:srgbClr val="50C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lock title 3"/>
          <p:cNvSpPr txBox="1"/>
          <p:nvPr/>
        </p:nvSpPr>
        <p:spPr>
          <a:xfrm>
            <a:off x="5212079" y="1984248"/>
            <a:ext cx="1783079" cy="310896"/>
          </a:xfrm>
          <a:prstGeom prst="rect">
            <a:avLst/>
          </a:prstGeom>
          <a:noFill/>
        </p:spPr>
        <p:txBody>
          <a:bodyPr wrap="square" lIns="45720" rIns="45720" anchor="t">
            <a:noAutofit/>
          </a:bodyPr>
          <a:lstStyle/>
          <a:p>
            <a:pPr algn="ctr"/>
            <a:r>
              <a:rPr sz="1200" b="1">
                <a:solidFill>
                  <a:srgbClr val="0D1A30"/>
                </a:solidFill>
                <a:latin typeface="Aptos"/>
              </a:rPr>
              <a:t>State machine</a:t>
            </a:r>
          </a:p>
        </p:txBody>
      </p:sp>
      <p:sp>
        <p:nvSpPr>
          <p:cNvPr id="20" name="Block text 3"/>
          <p:cNvSpPr txBox="1"/>
          <p:nvPr/>
        </p:nvSpPr>
        <p:spPr>
          <a:xfrm>
            <a:off x="5212079" y="2304288"/>
            <a:ext cx="1783079" cy="457200"/>
          </a:xfrm>
          <a:prstGeom prst="rect">
            <a:avLst/>
          </a:prstGeom>
          <a:noFill/>
        </p:spPr>
        <p:txBody>
          <a:bodyPr wrap="square" lIns="45720" rIns="45720" anchor="t">
            <a:noAutofit/>
          </a:bodyPr>
          <a:lstStyle/>
          <a:p>
            <a:pPr algn="ctr"/>
            <a:r>
              <a:rPr sz="1100" b="0">
                <a:solidFill>
                  <a:srgbClr val="0D1A30"/>
                </a:solidFill>
                <a:latin typeface="Aptos"/>
              </a:rPr>
              <a:t>search • check • lock • flywheel</a:t>
            </a:r>
          </a:p>
        </p:txBody>
      </p:sp>
      <p:sp>
        <p:nvSpPr>
          <p:cNvPr id="21" name="Arrow 3"/>
          <p:cNvSpPr txBox="1"/>
          <p:nvPr/>
        </p:nvSpPr>
        <p:spPr>
          <a:xfrm>
            <a:off x="7040879" y="2176272"/>
            <a:ext cx="274320" cy="365760"/>
          </a:xfrm>
          <a:prstGeom prst="rect">
            <a:avLst/>
          </a:prstGeom>
          <a:noFill/>
        </p:spPr>
        <p:txBody>
          <a:bodyPr wrap="square" lIns="45720" rIns="45720" anchor="t">
            <a:noAutofit/>
          </a:bodyPr>
          <a:lstStyle/>
          <a:p>
            <a:pPr algn="ctr"/>
            <a:r>
              <a:rPr sz="1800" b="1">
                <a:solidFill>
                  <a:srgbClr val="50C8D2"/>
                </a:solidFill>
                <a:latin typeface="Aptos"/>
              </a:rPr>
              <a:t>→</a:t>
            </a:r>
          </a:p>
        </p:txBody>
      </p:sp>
      <p:sp>
        <p:nvSpPr>
          <p:cNvPr id="22" name="Block 4"/>
          <p:cNvSpPr/>
          <p:nvPr/>
        </p:nvSpPr>
        <p:spPr>
          <a:xfrm>
            <a:off x="7315199" y="1920240"/>
            <a:ext cx="1874519" cy="914400"/>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lock title 4"/>
          <p:cNvSpPr txBox="1"/>
          <p:nvPr/>
        </p:nvSpPr>
        <p:spPr>
          <a:xfrm>
            <a:off x="7360919" y="1984248"/>
            <a:ext cx="1783079" cy="310896"/>
          </a:xfrm>
          <a:prstGeom prst="rect">
            <a:avLst/>
          </a:prstGeom>
          <a:noFill/>
        </p:spPr>
        <p:txBody>
          <a:bodyPr wrap="square" lIns="45720" rIns="45720" anchor="t">
            <a:noAutofit/>
          </a:bodyPr>
          <a:lstStyle/>
          <a:p>
            <a:pPr algn="ctr"/>
            <a:r>
              <a:rPr sz="1200" b="1">
                <a:solidFill>
                  <a:srgbClr val="F8FAFC"/>
                </a:solidFill>
                <a:latin typeface="Aptos"/>
              </a:rPr>
              <a:t>Frame extractor</a:t>
            </a:r>
          </a:p>
        </p:txBody>
      </p:sp>
      <p:sp>
        <p:nvSpPr>
          <p:cNvPr id="24" name="Block text 4"/>
          <p:cNvSpPr txBox="1"/>
          <p:nvPr/>
        </p:nvSpPr>
        <p:spPr>
          <a:xfrm>
            <a:off x="7360919" y="2304288"/>
            <a:ext cx="1783079" cy="457200"/>
          </a:xfrm>
          <a:prstGeom prst="rect">
            <a:avLst/>
          </a:prstGeom>
          <a:noFill/>
        </p:spPr>
        <p:txBody>
          <a:bodyPr wrap="square" lIns="45720" rIns="45720" anchor="t">
            <a:noAutofit/>
          </a:bodyPr>
          <a:lstStyle/>
          <a:p>
            <a:pPr algn="ctr"/>
            <a:r>
              <a:rPr sz="1100" b="0">
                <a:solidFill>
                  <a:srgbClr val="F8FAFC"/>
                </a:solidFill>
                <a:latin typeface="Aptos"/>
              </a:rPr>
              <a:t>bytes, header, CRC-16</a:t>
            </a:r>
          </a:p>
        </p:txBody>
      </p:sp>
      <p:sp>
        <p:nvSpPr>
          <p:cNvPr id="25" name="Arrow 4"/>
          <p:cNvSpPr txBox="1"/>
          <p:nvPr/>
        </p:nvSpPr>
        <p:spPr>
          <a:xfrm>
            <a:off x="9189719" y="2176272"/>
            <a:ext cx="274320" cy="365760"/>
          </a:xfrm>
          <a:prstGeom prst="rect">
            <a:avLst/>
          </a:prstGeom>
          <a:noFill/>
        </p:spPr>
        <p:txBody>
          <a:bodyPr wrap="square" lIns="45720" rIns="45720" anchor="t">
            <a:noAutofit/>
          </a:bodyPr>
          <a:lstStyle/>
          <a:p>
            <a:pPr algn="ctr"/>
            <a:r>
              <a:rPr sz="1800" b="1">
                <a:solidFill>
                  <a:srgbClr val="50C8D2"/>
                </a:solidFill>
                <a:latin typeface="Aptos"/>
              </a:rPr>
              <a:t>→</a:t>
            </a:r>
          </a:p>
        </p:txBody>
      </p:sp>
      <p:sp>
        <p:nvSpPr>
          <p:cNvPr id="26" name="Block 5"/>
          <p:cNvSpPr/>
          <p:nvPr/>
        </p:nvSpPr>
        <p:spPr>
          <a:xfrm>
            <a:off x="9464039" y="1920240"/>
            <a:ext cx="1874519" cy="914400"/>
          </a:xfrm>
          <a:prstGeom prst="roundRect">
            <a:avLst/>
          </a:prstGeom>
          <a:solidFill>
            <a:srgbClr val="40AB81"/>
          </a:solidFill>
          <a:ln>
            <a:solidFill>
              <a:srgbClr val="40A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lock title 5"/>
          <p:cNvSpPr txBox="1"/>
          <p:nvPr/>
        </p:nvSpPr>
        <p:spPr>
          <a:xfrm>
            <a:off x="9509759" y="1984248"/>
            <a:ext cx="1783079" cy="310896"/>
          </a:xfrm>
          <a:prstGeom prst="rect">
            <a:avLst/>
          </a:prstGeom>
          <a:noFill/>
        </p:spPr>
        <p:txBody>
          <a:bodyPr wrap="square" lIns="45720" rIns="45720" anchor="t">
            <a:noAutofit/>
          </a:bodyPr>
          <a:lstStyle/>
          <a:p>
            <a:pPr algn="ctr"/>
            <a:r>
              <a:rPr sz="1200" b="1">
                <a:solidFill>
                  <a:srgbClr val="F8FAFC"/>
                </a:solidFill>
                <a:latin typeface="Aptos"/>
              </a:rPr>
              <a:t>Virtual channels</a:t>
            </a:r>
          </a:p>
        </p:txBody>
      </p:sp>
      <p:sp>
        <p:nvSpPr>
          <p:cNvPr id="28" name="Block text 5"/>
          <p:cNvSpPr txBox="1"/>
          <p:nvPr/>
        </p:nvSpPr>
        <p:spPr>
          <a:xfrm>
            <a:off x="9509759" y="2304288"/>
            <a:ext cx="1783079" cy="457200"/>
          </a:xfrm>
          <a:prstGeom prst="rect">
            <a:avLst/>
          </a:prstGeom>
          <a:noFill/>
        </p:spPr>
        <p:txBody>
          <a:bodyPr wrap="square" lIns="45720" rIns="45720" anchor="t">
            <a:noAutofit/>
          </a:bodyPr>
          <a:lstStyle/>
          <a:p>
            <a:pPr algn="ctr"/>
            <a:r>
              <a:rPr sz="1100" b="0">
                <a:solidFill>
                  <a:srgbClr val="F8FAFC"/>
                </a:solidFill>
                <a:latin typeface="Aptos"/>
              </a:rPr>
              <a:t>frame counters, VC 0 to 7</a:t>
            </a:r>
          </a:p>
        </p:txBody>
      </p:sp>
      <p:sp>
        <p:nvSpPr>
          <p:cNvPr id="29" name="Tolerance heading"/>
          <p:cNvSpPr txBox="1"/>
          <p:nvPr/>
        </p:nvSpPr>
        <p:spPr>
          <a:xfrm>
            <a:off x="640080" y="3127248"/>
            <a:ext cx="10927080" cy="310896"/>
          </a:xfrm>
          <a:prstGeom prst="rect">
            <a:avLst/>
          </a:prstGeom>
          <a:noFill/>
        </p:spPr>
        <p:txBody>
          <a:bodyPr wrap="square" lIns="45720" rIns="45720" anchor="t">
            <a:noAutofit/>
          </a:bodyPr>
          <a:lstStyle/>
          <a:p>
            <a:pPr algn="l"/>
            <a:r>
              <a:rPr sz="1400" b="1">
                <a:solidFill>
                  <a:srgbClr val="50C8D2"/>
                </a:solidFill>
                <a:latin typeface="Aptos"/>
              </a:rPr>
              <a:t>Different tolerance per state (wrong bits allowed out of 32)</a:t>
            </a:r>
          </a:p>
        </p:txBody>
      </p:sp>
      <p:sp>
        <p:nvSpPr>
          <p:cNvPr id="30" name="State card 1"/>
          <p:cNvSpPr/>
          <p:nvPr/>
        </p:nvSpPr>
        <p:spPr>
          <a:xfrm>
            <a:off x="640080" y="3493008"/>
            <a:ext cx="2606040" cy="13716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ate name 1"/>
          <p:cNvSpPr txBox="1"/>
          <p:nvPr/>
        </p:nvSpPr>
        <p:spPr>
          <a:xfrm>
            <a:off x="804671" y="3584448"/>
            <a:ext cx="2331720" cy="274320"/>
          </a:xfrm>
          <a:prstGeom prst="rect">
            <a:avLst/>
          </a:prstGeom>
          <a:noFill/>
        </p:spPr>
        <p:txBody>
          <a:bodyPr wrap="square" lIns="45720" rIns="45720" anchor="t">
            <a:noAutofit/>
          </a:bodyPr>
          <a:lstStyle/>
          <a:p>
            <a:pPr algn="l"/>
            <a:r>
              <a:rPr sz="1200" b="1">
                <a:solidFill>
                  <a:srgbClr val="50C8D2"/>
                </a:solidFill>
                <a:latin typeface="Aptos"/>
              </a:rPr>
              <a:t>SEARCH</a:t>
            </a:r>
          </a:p>
        </p:txBody>
      </p:sp>
      <p:sp>
        <p:nvSpPr>
          <p:cNvPr id="32" name="State value 1"/>
          <p:cNvSpPr txBox="1"/>
          <p:nvPr/>
        </p:nvSpPr>
        <p:spPr>
          <a:xfrm>
            <a:off x="804671" y="3858768"/>
            <a:ext cx="2331720" cy="457200"/>
          </a:xfrm>
          <a:prstGeom prst="rect">
            <a:avLst/>
          </a:prstGeom>
          <a:noFill/>
        </p:spPr>
        <p:txBody>
          <a:bodyPr wrap="square" lIns="45720" rIns="45720" anchor="t">
            <a:noAutofit/>
          </a:bodyPr>
          <a:lstStyle/>
          <a:p>
            <a:pPr algn="l"/>
            <a:r>
              <a:rPr sz="2400" b="1">
                <a:solidFill>
                  <a:srgbClr val="F8FAFC"/>
                </a:solidFill>
                <a:latin typeface="Aptos"/>
              </a:rPr>
              <a:t>≤ 2</a:t>
            </a:r>
          </a:p>
        </p:txBody>
      </p:sp>
      <p:sp>
        <p:nvSpPr>
          <p:cNvPr id="33" name="State text 1"/>
          <p:cNvSpPr txBox="1"/>
          <p:nvPr/>
        </p:nvSpPr>
        <p:spPr>
          <a:xfrm>
            <a:off x="804671" y="4370832"/>
            <a:ext cx="2331720" cy="457200"/>
          </a:xfrm>
          <a:prstGeom prst="rect">
            <a:avLst/>
          </a:prstGeom>
          <a:noFill/>
        </p:spPr>
        <p:txBody>
          <a:bodyPr wrap="square" lIns="45720" rIns="45720" anchor="t">
            <a:noAutofit/>
          </a:bodyPr>
          <a:lstStyle/>
          <a:p>
            <a:pPr algn="l"/>
            <a:r>
              <a:rPr sz="1100" b="0">
                <a:solidFill>
                  <a:srgbClr val="B4C4D6"/>
                </a:solidFill>
                <a:latin typeface="Aptos"/>
              </a:rPr>
              <a:t>Blind search: strict, so random data rarely locks</a:t>
            </a:r>
          </a:p>
        </p:txBody>
      </p:sp>
      <p:sp>
        <p:nvSpPr>
          <p:cNvPr id="34" name="State card 2"/>
          <p:cNvSpPr/>
          <p:nvPr/>
        </p:nvSpPr>
        <p:spPr>
          <a:xfrm>
            <a:off x="3410712" y="3493008"/>
            <a:ext cx="2606040" cy="13716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e name 2"/>
          <p:cNvSpPr txBox="1"/>
          <p:nvPr/>
        </p:nvSpPr>
        <p:spPr>
          <a:xfrm>
            <a:off x="3575304" y="3584448"/>
            <a:ext cx="2331720" cy="274320"/>
          </a:xfrm>
          <a:prstGeom prst="rect">
            <a:avLst/>
          </a:prstGeom>
          <a:noFill/>
        </p:spPr>
        <p:txBody>
          <a:bodyPr wrap="square" lIns="45720" rIns="45720" anchor="t">
            <a:noAutofit/>
          </a:bodyPr>
          <a:lstStyle/>
          <a:p>
            <a:pPr algn="l"/>
            <a:r>
              <a:rPr sz="1200" b="1">
                <a:solidFill>
                  <a:srgbClr val="F5B942"/>
                </a:solidFill>
                <a:latin typeface="Aptos"/>
              </a:rPr>
              <a:t>CHECK</a:t>
            </a:r>
          </a:p>
        </p:txBody>
      </p:sp>
      <p:sp>
        <p:nvSpPr>
          <p:cNvPr id="36" name="State value 2"/>
          <p:cNvSpPr txBox="1"/>
          <p:nvPr/>
        </p:nvSpPr>
        <p:spPr>
          <a:xfrm>
            <a:off x="3575304" y="3858768"/>
            <a:ext cx="2331720" cy="457200"/>
          </a:xfrm>
          <a:prstGeom prst="rect">
            <a:avLst/>
          </a:prstGeom>
          <a:noFill/>
        </p:spPr>
        <p:txBody>
          <a:bodyPr wrap="square" lIns="45720" rIns="45720" anchor="t">
            <a:noAutofit/>
          </a:bodyPr>
          <a:lstStyle/>
          <a:p>
            <a:pPr algn="l"/>
            <a:r>
              <a:rPr sz="2400" b="1">
                <a:solidFill>
                  <a:srgbClr val="F8FAFC"/>
                </a:solidFill>
                <a:latin typeface="Aptos"/>
              </a:rPr>
              <a:t>≤ 4</a:t>
            </a:r>
          </a:p>
        </p:txBody>
      </p:sp>
      <p:sp>
        <p:nvSpPr>
          <p:cNvPr id="37" name="State text 2"/>
          <p:cNvSpPr txBox="1"/>
          <p:nvPr/>
        </p:nvSpPr>
        <p:spPr>
          <a:xfrm>
            <a:off x="3575304" y="4370832"/>
            <a:ext cx="2331720" cy="457200"/>
          </a:xfrm>
          <a:prstGeom prst="rect">
            <a:avLst/>
          </a:prstGeom>
          <a:noFill/>
        </p:spPr>
        <p:txBody>
          <a:bodyPr wrap="square" lIns="45720" rIns="45720" anchor="t">
            <a:noAutofit/>
          </a:bodyPr>
          <a:lstStyle/>
          <a:p>
            <a:pPr algn="l"/>
            <a:r>
              <a:rPr sz="1100" b="0">
                <a:solidFill>
                  <a:srgbClr val="B4C4D6"/>
                </a:solidFill>
                <a:latin typeface="Aptos"/>
              </a:rPr>
              <a:t>A second marker must appear one frame later</a:t>
            </a:r>
          </a:p>
        </p:txBody>
      </p:sp>
      <p:sp>
        <p:nvSpPr>
          <p:cNvPr id="38" name="State card 3"/>
          <p:cNvSpPr/>
          <p:nvPr/>
        </p:nvSpPr>
        <p:spPr>
          <a:xfrm>
            <a:off x="6181344" y="3493008"/>
            <a:ext cx="2606040" cy="13716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ate name 3"/>
          <p:cNvSpPr txBox="1"/>
          <p:nvPr/>
        </p:nvSpPr>
        <p:spPr>
          <a:xfrm>
            <a:off x="6345936" y="3584448"/>
            <a:ext cx="2331720" cy="274320"/>
          </a:xfrm>
          <a:prstGeom prst="rect">
            <a:avLst/>
          </a:prstGeom>
          <a:noFill/>
        </p:spPr>
        <p:txBody>
          <a:bodyPr wrap="square" lIns="45720" rIns="45720" anchor="t">
            <a:noAutofit/>
          </a:bodyPr>
          <a:lstStyle/>
          <a:p>
            <a:pPr algn="l"/>
            <a:r>
              <a:rPr sz="1200" b="1">
                <a:solidFill>
                  <a:srgbClr val="40AB81"/>
                </a:solidFill>
                <a:latin typeface="Aptos"/>
              </a:rPr>
              <a:t>LOCK</a:t>
            </a:r>
          </a:p>
        </p:txBody>
      </p:sp>
      <p:sp>
        <p:nvSpPr>
          <p:cNvPr id="40" name="State value 3"/>
          <p:cNvSpPr txBox="1"/>
          <p:nvPr/>
        </p:nvSpPr>
        <p:spPr>
          <a:xfrm>
            <a:off x="6345936" y="3858768"/>
            <a:ext cx="2331720" cy="457200"/>
          </a:xfrm>
          <a:prstGeom prst="rect">
            <a:avLst/>
          </a:prstGeom>
          <a:noFill/>
        </p:spPr>
        <p:txBody>
          <a:bodyPr wrap="square" lIns="45720" rIns="45720" anchor="t">
            <a:noAutofit/>
          </a:bodyPr>
          <a:lstStyle/>
          <a:p>
            <a:pPr algn="l"/>
            <a:r>
              <a:rPr sz="2400" b="1">
                <a:solidFill>
                  <a:srgbClr val="F8FAFC"/>
                </a:solidFill>
                <a:latin typeface="Aptos"/>
              </a:rPr>
              <a:t>≤ 6</a:t>
            </a:r>
          </a:p>
        </p:txBody>
      </p:sp>
      <p:sp>
        <p:nvSpPr>
          <p:cNvPr id="41" name="State text 3"/>
          <p:cNvSpPr txBox="1"/>
          <p:nvPr/>
        </p:nvSpPr>
        <p:spPr>
          <a:xfrm>
            <a:off x="6345936" y="4370832"/>
            <a:ext cx="2331720" cy="457200"/>
          </a:xfrm>
          <a:prstGeom prst="rect">
            <a:avLst/>
          </a:prstGeom>
          <a:noFill/>
        </p:spPr>
        <p:txBody>
          <a:bodyPr wrap="square" lIns="45720" rIns="45720" anchor="t">
            <a:noAutofit/>
          </a:bodyPr>
          <a:lstStyle/>
          <a:p>
            <a:pPr algn="l"/>
            <a:r>
              <a:rPr sz="1100" b="0">
                <a:solidFill>
                  <a:srgbClr val="B4C4D6"/>
                </a:solidFill>
                <a:latin typeface="Aptos"/>
              </a:rPr>
              <a:t>Position is known, so noise is tolerated</a:t>
            </a:r>
          </a:p>
        </p:txBody>
      </p:sp>
      <p:sp>
        <p:nvSpPr>
          <p:cNvPr id="42" name="State card 4"/>
          <p:cNvSpPr/>
          <p:nvPr/>
        </p:nvSpPr>
        <p:spPr>
          <a:xfrm>
            <a:off x="8951976" y="3493008"/>
            <a:ext cx="2606040" cy="137160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ate name 4"/>
          <p:cNvSpPr txBox="1"/>
          <p:nvPr/>
        </p:nvSpPr>
        <p:spPr>
          <a:xfrm>
            <a:off x="9116567" y="3584448"/>
            <a:ext cx="2331720" cy="274320"/>
          </a:xfrm>
          <a:prstGeom prst="rect">
            <a:avLst/>
          </a:prstGeom>
          <a:noFill/>
        </p:spPr>
        <p:txBody>
          <a:bodyPr wrap="square" lIns="45720" rIns="45720" anchor="t">
            <a:noAutofit/>
          </a:bodyPr>
          <a:lstStyle/>
          <a:p>
            <a:pPr algn="l"/>
            <a:r>
              <a:rPr sz="1200" b="1">
                <a:solidFill>
                  <a:srgbClr val="B4C4D6"/>
                </a:solidFill>
                <a:latin typeface="Aptos"/>
              </a:rPr>
              <a:t>FLYWHEEL</a:t>
            </a:r>
          </a:p>
        </p:txBody>
      </p:sp>
      <p:sp>
        <p:nvSpPr>
          <p:cNvPr id="44" name="State value 4"/>
          <p:cNvSpPr txBox="1"/>
          <p:nvPr/>
        </p:nvSpPr>
        <p:spPr>
          <a:xfrm>
            <a:off x="9116567" y="3858768"/>
            <a:ext cx="2331720" cy="457200"/>
          </a:xfrm>
          <a:prstGeom prst="rect">
            <a:avLst/>
          </a:prstGeom>
          <a:noFill/>
        </p:spPr>
        <p:txBody>
          <a:bodyPr wrap="square" lIns="45720" rIns="45720" anchor="t">
            <a:noAutofit/>
          </a:bodyPr>
          <a:lstStyle/>
          <a:p>
            <a:pPr algn="l"/>
            <a:r>
              <a:rPr sz="2400" b="1">
                <a:solidFill>
                  <a:srgbClr val="F8FAFC"/>
                </a:solidFill>
                <a:latin typeface="Aptos"/>
              </a:rPr>
              <a:t>3 misses</a:t>
            </a:r>
          </a:p>
        </p:txBody>
      </p:sp>
      <p:sp>
        <p:nvSpPr>
          <p:cNvPr id="45" name="State text 4"/>
          <p:cNvSpPr txBox="1"/>
          <p:nvPr/>
        </p:nvSpPr>
        <p:spPr>
          <a:xfrm>
            <a:off x="9116567" y="4370832"/>
            <a:ext cx="2331720" cy="457200"/>
          </a:xfrm>
          <a:prstGeom prst="rect">
            <a:avLst/>
          </a:prstGeom>
          <a:noFill/>
        </p:spPr>
        <p:txBody>
          <a:bodyPr wrap="square" lIns="45720" rIns="45720" anchor="t">
            <a:noAutofit/>
          </a:bodyPr>
          <a:lstStyle/>
          <a:p>
            <a:pPr algn="l"/>
            <a:r>
              <a:rPr sz="1100" b="0">
                <a:solidFill>
                  <a:srgbClr val="B4C4D6"/>
                </a:solidFill>
                <a:latin typeface="Aptos"/>
              </a:rPr>
              <a:t>Keep frame timing; 3 in a row returns to SEARCH</a:t>
            </a:r>
          </a:p>
        </p:txBody>
      </p:sp>
      <p:sp>
        <p:nvSpPr>
          <p:cNvPr id="46" name="Feature card 1"/>
          <p:cNvSpPr/>
          <p:nvPr/>
        </p:nvSpPr>
        <p:spPr>
          <a:xfrm>
            <a:off x="640080" y="5047488"/>
            <a:ext cx="3538728" cy="1234440"/>
          </a:xfrm>
          <a:prstGeom prst="roundRect">
            <a:avLst/>
          </a:prstGeom>
          <a:solidFill>
            <a:srgbClr val="1F3653"/>
          </a:solidFill>
          <a:ln>
            <a:solidFill>
              <a:srgbClr val="1F3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eature title 1"/>
          <p:cNvSpPr txBox="1"/>
          <p:nvPr/>
        </p:nvSpPr>
        <p:spPr>
          <a:xfrm>
            <a:off x="822959" y="5120640"/>
            <a:ext cx="3172968" cy="292608"/>
          </a:xfrm>
          <a:prstGeom prst="rect">
            <a:avLst/>
          </a:prstGeom>
          <a:noFill/>
        </p:spPr>
        <p:txBody>
          <a:bodyPr wrap="square" lIns="45720" rIns="45720" anchor="t">
            <a:noAutofit/>
          </a:bodyPr>
          <a:lstStyle/>
          <a:p>
            <a:pPr algn="l"/>
            <a:r>
              <a:rPr sz="1300" b="1">
                <a:solidFill>
                  <a:srgbClr val="50C8D2"/>
                </a:solidFill>
                <a:latin typeface="Aptos"/>
              </a:rPr>
              <a:t>Bit-slip window ±4</a:t>
            </a:r>
          </a:p>
        </p:txBody>
      </p:sp>
      <p:sp>
        <p:nvSpPr>
          <p:cNvPr id="48" name="Feature text 1"/>
          <p:cNvSpPr txBox="1"/>
          <p:nvPr/>
        </p:nvSpPr>
        <p:spPr>
          <a:xfrm>
            <a:off x="822959" y="5440680"/>
            <a:ext cx="3172968" cy="777240"/>
          </a:xfrm>
          <a:prstGeom prst="rect">
            <a:avLst/>
          </a:prstGeom>
          <a:noFill/>
        </p:spPr>
        <p:txBody>
          <a:bodyPr wrap="square" lIns="45720" rIns="45720" anchor="t">
            <a:noAutofit/>
          </a:bodyPr>
          <a:lstStyle/>
          <a:p>
            <a:pPr algn="l"/>
            <a:r>
              <a:rPr sz="1200" b="0">
                <a:solidFill>
                  <a:srgbClr val="E5EDF6"/>
                </a:solidFill>
                <a:latin typeface="Aptos"/>
              </a:rPr>
              <a:t>A strong match near the expected position re-aligns the frame counter without a new search.</a:t>
            </a:r>
          </a:p>
        </p:txBody>
      </p:sp>
      <p:sp>
        <p:nvSpPr>
          <p:cNvPr id="49" name="Feature card 2"/>
          <p:cNvSpPr/>
          <p:nvPr/>
        </p:nvSpPr>
        <p:spPr>
          <a:xfrm>
            <a:off x="4334256" y="5047488"/>
            <a:ext cx="3538728" cy="1234440"/>
          </a:xfrm>
          <a:prstGeom prst="roundRect">
            <a:avLst/>
          </a:prstGeom>
          <a:solidFill>
            <a:srgbClr val="1F3653"/>
          </a:solidFill>
          <a:ln>
            <a:solidFill>
              <a:srgbClr val="1F3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eature title 2"/>
          <p:cNvSpPr txBox="1"/>
          <p:nvPr/>
        </p:nvSpPr>
        <p:spPr>
          <a:xfrm>
            <a:off x="4517136" y="5120640"/>
            <a:ext cx="3172968" cy="292608"/>
          </a:xfrm>
          <a:prstGeom prst="rect">
            <a:avLst/>
          </a:prstGeom>
          <a:noFill/>
        </p:spPr>
        <p:txBody>
          <a:bodyPr wrap="square" lIns="45720" rIns="45720" anchor="t">
            <a:noAutofit/>
          </a:bodyPr>
          <a:lstStyle/>
          <a:p>
            <a:pPr algn="l"/>
            <a:r>
              <a:rPr sz="1300" b="1">
                <a:solidFill>
                  <a:srgbClr val="50C8D2"/>
                </a:solidFill>
                <a:latin typeface="Aptos"/>
              </a:rPr>
              <a:t>Polarity-safe</a:t>
            </a:r>
          </a:p>
        </p:txBody>
      </p:sp>
      <p:sp>
        <p:nvSpPr>
          <p:cNvPr id="51" name="Feature text 2"/>
          <p:cNvSpPr txBox="1"/>
          <p:nvPr/>
        </p:nvSpPr>
        <p:spPr>
          <a:xfrm>
            <a:off x="4517136" y="5440680"/>
            <a:ext cx="3172968" cy="777240"/>
          </a:xfrm>
          <a:prstGeom prst="rect">
            <a:avLst/>
          </a:prstGeom>
          <a:noFill/>
        </p:spPr>
        <p:txBody>
          <a:bodyPr wrap="square" lIns="45720" rIns="45720" anchor="t">
            <a:noAutofit/>
          </a:bodyPr>
          <a:lstStyle/>
          <a:p>
            <a:pPr algn="l"/>
            <a:r>
              <a:rPr sz="1200" b="0">
                <a:solidFill>
                  <a:srgbClr val="E5EDF6"/>
                </a:solidFill>
                <a:latin typeface="Aptos"/>
              </a:rPr>
              <a:t>The inverted marker 0xE53003E2 is detected and the data flipped back (180° BPSK ambiguity).</a:t>
            </a:r>
          </a:p>
        </p:txBody>
      </p:sp>
      <p:sp>
        <p:nvSpPr>
          <p:cNvPr id="52" name="Feature card 3"/>
          <p:cNvSpPr/>
          <p:nvPr/>
        </p:nvSpPr>
        <p:spPr>
          <a:xfrm>
            <a:off x="8028431" y="5047488"/>
            <a:ext cx="3538728" cy="1234440"/>
          </a:xfrm>
          <a:prstGeom prst="roundRect">
            <a:avLst/>
          </a:prstGeom>
          <a:solidFill>
            <a:srgbClr val="1F3653"/>
          </a:solidFill>
          <a:ln>
            <a:solidFill>
              <a:srgbClr val="1F3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eature title 3"/>
          <p:cNvSpPr txBox="1"/>
          <p:nvPr/>
        </p:nvSpPr>
        <p:spPr>
          <a:xfrm>
            <a:off x="8211311" y="5120640"/>
            <a:ext cx="3172968" cy="292608"/>
          </a:xfrm>
          <a:prstGeom prst="rect">
            <a:avLst/>
          </a:prstGeom>
          <a:noFill/>
        </p:spPr>
        <p:txBody>
          <a:bodyPr wrap="square" lIns="45720" rIns="45720" anchor="t">
            <a:noAutofit/>
          </a:bodyPr>
          <a:lstStyle/>
          <a:p>
            <a:pPr algn="l"/>
            <a:r>
              <a:rPr sz="1300" b="1">
                <a:solidFill>
                  <a:srgbClr val="50C8D2"/>
                </a:solidFill>
                <a:latin typeface="Aptos"/>
              </a:rPr>
              <a:t>50 MHz, 1 bit per clock</a:t>
            </a:r>
          </a:p>
        </p:txBody>
      </p:sp>
      <p:sp>
        <p:nvSpPr>
          <p:cNvPr id="54" name="Feature text 3"/>
          <p:cNvSpPr txBox="1"/>
          <p:nvPr/>
        </p:nvSpPr>
        <p:spPr>
          <a:xfrm>
            <a:off x="8211311" y="5440680"/>
            <a:ext cx="3172968" cy="777240"/>
          </a:xfrm>
          <a:prstGeom prst="rect">
            <a:avLst/>
          </a:prstGeom>
          <a:noFill/>
        </p:spPr>
        <p:txBody>
          <a:bodyPr wrap="square" lIns="45720" rIns="45720" anchor="t">
            <a:noAutofit/>
          </a:bodyPr>
          <a:lstStyle/>
          <a:p>
            <a:pPr algn="l"/>
            <a:r>
              <a:rPr sz="1200" b="0">
                <a:solidFill>
                  <a:srgbClr val="E5EDF6"/>
                </a:solidFill>
                <a:latin typeface="Aptos"/>
              </a:rPr>
              <a:t>Sustains 50 Mbit/s. Outputs bytes, decoded header, CRC check and per-VC frame counts.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06 / LEVEL 2 • VERIFICATION</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Verified against a bit-exact golden model</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Errors up to 10 %, slips, inverted polarity, burst loss, clock gaps, real frame length, and our own Level 1 bit streams.</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24"/>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8" name="TextBox 25"/>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07</a:t>
            </a:r>
          </a:p>
        </p:txBody>
      </p:sp>
      <p:pic>
        <p:nvPicPr>
          <p:cNvPr id="9" name="Waveform" descr="waveform_lock_and_slip.png"/>
          <p:cNvPicPr>
            <a:picLocks noChangeAspect="1"/>
          </p:cNvPicPr>
          <p:nvPr/>
        </p:nvPicPr>
        <p:blipFill>
          <a:blip r:embed="rId2"/>
          <a:stretch>
            <a:fillRect/>
          </a:stretch>
        </p:blipFill>
        <p:spPr>
          <a:xfrm>
            <a:off x="502920" y="1691640"/>
            <a:ext cx="7406640" cy="4443984"/>
          </a:xfrm>
          <a:prstGeom prst="rect">
            <a:avLst/>
          </a:prstGeom>
        </p:spPr>
      </p:pic>
      <p:sp>
        <p:nvSpPr>
          <p:cNvPr id="10" name="Results card"/>
          <p:cNvSpPr/>
          <p:nvPr/>
        </p:nvSpPr>
        <p:spPr>
          <a:xfrm>
            <a:off x="8138160" y="1783080"/>
            <a:ext cx="3520440" cy="452628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label"/>
          <p:cNvSpPr txBox="1"/>
          <p:nvPr/>
        </p:nvSpPr>
        <p:spPr>
          <a:xfrm>
            <a:off x="8394192" y="2011680"/>
            <a:ext cx="3017520" cy="292608"/>
          </a:xfrm>
          <a:prstGeom prst="rect">
            <a:avLst/>
          </a:prstGeom>
          <a:noFill/>
        </p:spPr>
        <p:txBody>
          <a:bodyPr wrap="square" lIns="45720" rIns="45720" anchor="t">
            <a:noAutofit/>
          </a:bodyPr>
          <a:lstStyle/>
          <a:p>
            <a:pPr algn="l"/>
            <a:r>
              <a:rPr sz="1000" b="1">
                <a:solidFill>
                  <a:srgbClr val="50C8D2"/>
                </a:solidFill>
                <a:latin typeface="Aptos"/>
              </a:rPr>
              <a:t>SELF-CHECKING TESTBENCH</a:t>
            </a:r>
          </a:p>
        </p:txBody>
      </p:sp>
      <p:sp>
        <p:nvSpPr>
          <p:cNvPr id="12" name="Stat 1"/>
          <p:cNvSpPr txBox="1"/>
          <p:nvPr/>
        </p:nvSpPr>
        <p:spPr>
          <a:xfrm>
            <a:off x="8394192" y="2395728"/>
            <a:ext cx="3017520" cy="457200"/>
          </a:xfrm>
          <a:prstGeom prst="rect">
            <a:avLst/>
          </a:prstGeom>
          <a:noFill/>
        </p:spPr>
        <p:txBody>
          <a:bodyPr wrap="square" lIns="45720" rIns="45720" anchor="t">
            <a:noAutofit/>
          </a:bodyPr>
          <a:lstStyle/>
          <a:p>
            <a:pPr algn="l"/>
            <a:r>
              <a:rPr sz="2400" b="1">
                <a:solidFill>
                  <a:srgbClr val="40AB81"/>
                </a:solidFill>
                <a:latin typeface="Aptos"/>
              </a:rPr>
              <a:t>16 / 16</a:t>
            </a:r>
          </a:p>
        </p:txBody>
      </p:sp>
      <p:sp>
        <p:nvSpPr>
          <p:cNvPr id="13" name="Stat 1 caption"/>
          <p:cNvSpPr txBox="1"/>
          <p:nvPr/>
        </p:nvSpPr>
        <p:spPr>
          <a:xfrm>
            <a:off x="8412480" y="2834640"/>
            <a:ext cx="3017520" cy="502920"/>
          </a:xfrm>
          <a:prstGeom prst="rect">
            <a:avLst/>
          </a:prstGeom>
          <a:noFill/>
        </p:spPr>
        <p:txBody>
          <a:bodyPr wrap="square" lIns="45720" rIns="45720" anchor="t">
            <a:noAutofit/>
          </a:bodyPr>
          <a:lstStyle/>
          <a:p>
            <a:pPr algn="l"/>
            <a:r>
              <a:rPr sz="1100" b="0">
                <a:solidFill>
                  <a:srgbClr val="B4C4D6"/>
                </a:solidFill>
                <a:latin typeface="Aptos"/>
              </a:rPr>
              <a:t>scenarios pass, frame by frame against the Python model</a:t>
            </a:r>
          </a:p>
        </p:txBody>
      </p:sp>
      <p:sp>
        <p:nvSpPr>
          <p:cNvPr id="14" name="Stat 2"/>
          <p:cNvSpPr txBox="1"/>
          <p:nvPr/>
        </p:nvSpPr>
        <p:spPr>
          <a:xfrm>
            <a:off x="8394192" y="3520440"/>
            <a:ext cx="3017520" cy="457200"/>
          </a:xfrm>
          <a:prstGeom prst="rect">
            <a:avLst/>
          </a:prstGeom>
          <a:noFill/>
        </p:spPr>
        <p:txBody>
          <a:bodyPr wrap="square" lIns="45720" rIns="45720" anchor="t">
            <a:noAutofit/>
          </a:bodyPr>
          <a:lstStyle/>
          <a:p>
            <a:pPr algn="l"/>
            <a:r>
              <a:rPr sz="2400" b="1">
                <a:solidFill>
                  <a:srgbClr val="50C8D2"/>
                </a:solidFill>
                <a:latin typeface="Aptos"/>
              </a:rPr>
              <a:t>4 / 4</a:t>
            </a:r>
          </a:p>
        </p:txBody>
      </p:sp>
      <p:sp>
        <p:nvSpPr>
          <p:cNvPr id="15" name="Stat 2 caption"/>
          <p:cNvSpPr txBox="1"/>
          <p:nvPr/>
        </p:nvSpPr>
        <p:spPr>
          <a:xfrm>
            <a:off x="8412480" y="3959352"/>
            <a:ext cx="3017520" cy="457200"/>
          </a:xfrm>
          <a:prstGeom prst="rect">
            <a:avLst/>
          </a:prstGeom>
          <a:noFill/>
        </p:spPr>
        <p:txBody>
          <a:bodyPr wrap="square" lIns="45720" rIns="45720" anchor="t">
            <a:noAutofit/>
          </a:bodyPr>
          <a:lstStyle/>
          <a:p>
            <a:pPr algn="l"/>
            <a:r>
              <a:rPr sz="1100" b="0">
                <a:solidFill>
                  <a:srgbClr val="B4C4D6"/>
                </a:solidFill>
                <a:latin typeface="Aptos"/>
              </a:rPr>
              <a:t>deliberately injected RTL bugs were caught</a:t>
            </a:r>
          </a:p>
        </p:txBody>
      </p:sp>
      <p:sp>
        <p:nvSpPr>
          <p:cNvPr id="16" name="Stat 3"/>
          <p:cNvSpPr txBox="1"/>
          <p:nvPr/>
        </p:nvSpPr>
        <p:spPr>
          <a:xfrm>
            <a:off x="8394192" y="4572000"/>
            <a:ext cx="3017520" cy="457200"/>
          </a:xfrm>
          <a:prstGeom prst="rect">
            <a:avLst/>
          </a:prstGeom>
          <a:noFill/>
        </p:spPr>
        <p:txBody>
          <a:bodyPr wrap="square" lIns="45720" rIns="45720" anchor="t">
            <a:noAutofit/>
          </a:bodyPr>
          <a:lstStyle/>
          <a:p>
            <a:pPr algn="l"/>
            <a:r>
              <a:rPr sz="2400" b="1">
                <a:solidFill>
                  <a:srgbClr val="F5B942"/>
                </a:solidFill>
                <a:latin typeface="Aptos"/>
              </a:rPr>
              <a:t>≈ 1 vs ≈ 4.5</a:t>
            </a:r>
          </a:p>
        </p:txBody>
      </p:sp>
      <p:sp>
        <p:nvSpPr>
          <p:cNvPr id="17" name="Stat 3 caption"/>
          <p:cNvSpPr txBox="1"/>
          <p:nvPr/>
        </p:nvSpPr>
        <p:spPr>
          <a:xfrm>
            <a:off x="8412480" y="5010912"/>
            <a:ext cx="3017520" cy="502920"/>
          </a:xfrm>
          <a:prstGeom prst="rect">
            <a:avLst/>
          </a:prstGeom>
          <a:noFill/>
        </p:spPr>
        <p:txBody>
          <a:bodyPr wrap="square" lIns="45720" rIns="45720" anchor="t">
            <a:noAutofit/>
          </a:bodyPr>
          <a:lstStyle/>
          <a:p>
            <a:pPr algn="l"/>
            <a:r>
              <a:rPr sz="1100" b="0">
                <a:solidFill>
                  <a:srgbClr val="B4C4D6"/>
                </a:solidFill>
                <a:latin typeface="Aptos"/>
              </a:rPr>
              <a:t>frames lost per bit slip: with vs without the slip window</a:t>
            </a:r>
          </a:p>
        </p:txBody>
      </p:sp>
      <p:sp>
        <p:nvSpPr>
          <p:cNvPr id="18" name="Waveform note"/>
          <p:cNvSpPr txBox="1"/>
          <p:nvPr/>
        </p:nvSpPr>
        <p:spPr>
          <a:xfrm>
            <a:off x="8394192" y="5669280"/>
            <a:ext cx="3063240" cy="548640"/>
          </a:xfrm>
          <a:prstGeom prst="rect">
            <a:avLst/>
          </a:prstGeom>
          <a:noFill/>
        </p:spPr>
        <p:txBody>
          <a:bodyPr wrap="square" lIns="45720" rIns="45720" anchor="t">
            <a:noAutofit/>
          </a:bodyPr>
          <a:lstStyle/>
          <a:p>
            <a:pPr algn="l"/>
            <a:r>
              <a:rPr sz="1000" b="1">
                <a:solidFill>
                  <a:srgbClr val="E5EDF6"/>
                </a:solidFill>
                <a:latin typeface="Aptos"/>
              </a:rPr>
              <a:t>Waveform: SEARCH → CHECK → LOCK, then a deleted bit is re-aligned and lock is kept.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A30"/>
        </a:solidFill>
        <a:effectLst/>
      </p:bgPr>
    </p:bg>
    <p:spTree>
      <p:nvGrpSpPr>
        <p:cNvPr id="2" name=""/>
        <p:cNvGrpSpPr/>
        <p:nvPr/>
      </p:nvGrpSpPr>
      <p:grpSpPr/>
      <p:sp>
        <p:nvSpPr>
          <p:cNvPr id="3" name="TextBox 1"/>
          <p:cNvSpPr txBox="1"/>
          <p:nvPr/>
        </p:nvSpPr>
        <p:spPr>
          <a:xfrm>
            <a:off x="502920" y="256032"/>
            <a:ext cx="11155680" cy="256032"/>
          </a:xfrm>
          <a:prstGeom prst="rect">
            <a:avLst/>
          </a:prstGeom>
          <a:noFill/>
        </p:spPr>
        <p:txBody>
          <a:bodyPr wrap="square" lIns="45720" rIns="45720" anchor="t">
            <a:spAutoFit/>
          </a:bodyPr>
          <a:lstStyle/>
          <a:p>
            <a:pPr algn="l"/>
            <a:r>
              <a:rPr sz="1000" b="1">
                <a:solidFill>
                  <a:srgbClr val="50C8D2"/>
                </a:solidFill>
                <a:latin typeface="Aptos"/>
              </a:rPr>
              <a:t>07 / LEVEL 3 • FPGA RESULTS</a:t>
            </a:r>
          </a:p>
        </p:txBody>
      </p:sp>
      <p:sp>
        <p:nvSpPr>
          <p:cNvPr id="4" name="TextBox 2"/>
          <p:cNvSpPr txBox="1"/>
          <p:nvPr/>
        </p:nvSpPr>
        <p:spPr>
          <a:xfrm>
            <a:off x="502920" y="530352"/>
            <a:ext cx="11155680" cy="530352"/>
          </a:xfrm>
          <a:prstGeom prst="rect">
            <a:avLst/>
          </a:prstGeom>
          <a:noFill/>
        </p:spPr>
        <p:txBody>
          <a:bodyPr wrap="square" lIns="45720" rIns="45720" anchor="t">
            <a:spAutoFit/>
          </a:bodyPr>
          <a:lstStyle/>
          <a:p>
            <a:pPr algn="l"/>
            <a:r>
              <a:rPr sz="2800" b="1">
                <a:solidFill>
                  <a:srgbClr val="F8FAFC"/>
                </a:solidFill>
                <a:latin typeface="Aptos"/>
              </a:rPr>
              <a:t>Level 3: fits a low-cost FPGA and beats 50 MHz</a:t>
            </a:r>
          </a:p>
        </p:txBody>
      </p:sp>
      <p:sp>
        <p:nvSpPr>
          <p:cNvPr id="5" name="TextBox 3"/>
          <p:cNvSpPr txBox="1"/>
          <p:nvPr/>
        </p:nvSpPr>
        <p:spPr>
          <a:xfrm>
            <a:off x="521207" y="1069848"/>
            <a:ext cx="10972800" cy="384048"/>
          </a:xfrm>
          <a:prstGeom prst="rect">
            <a:avLst/>
          </a:prstGeom>
          <a:noFill/>
        </p:spPr>
        <p:txBody>
          <a:bodyPr wrap="square" lIns="45720" rIns="45720" anchor="t">
            <a:spAutoFit/>
          </a:bodyPr>
          <a:lstStyle/>
          <a:p>
            <a:pPr algn="l"/>
            <a:r>
              <a:rPr sz="1300" b="0">
                <a:solidFill>
                  <a:srgbClr val="B4C4D6"/>
                </a:solidFill>
                <a:latin typeface="Aptos"/>
              </a:rPr>
              <a:t>Open-source flow (Yosys + nextpnr), Lattice iCE40 HX8K, real 1115-byte frame length. Vivado script included.</a:t>
            </a:r>
          </a:p>
        </p:txBody>
      </p:sp>
      <p:sp>
        <p:nvSpPr>
          <p:cNvPr id="6" name="Rectangle 4"/>
          <p:cNvSpPr/>
          <p:nvPr/>
        </p:nvSpPr>
        <p:spPr>
          <a:xfrm>
            <a:off x="530352" y="1490472"/>
            <a:ext cx="1005840" cy="41148"/>
          </a:xfrm>
          <a:prstGeom prst="rect">
            <a:avLst/>
          </a:prstGeom>
          <a:solidFill>
            <a:srgbClr val="50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24"/>
          <p:cNvSpPr txBox="1"/>
          <p:nvPr/>
        </p:nvSpPr>
        <p:spPr>
          <a:xfrm>
            <a:off x="548640" y="6547104"/>
            <a:ext cx="8229600" cy="164592"/>
          </a:xfrm>
          <a:prstGeom prst="rect">
            <a:avLst/>
          </a:prstGeom>
          <a:noFill/>
        </p:spPr>
        <p:txBody>
          <a:bodyPr wrap="square" lIns="45720" rIns="45720" anchor="t">
            <a:spAutoFit/>
          </a:bodyPr>
          <a:lstStyle/>
          <a:p>
            <a:pPr algn="l"/>
            <a:r>
              <a:rPr sz="800" b="0">
                <a:solidFill>
                  <a:srgbClr val="B4C4D6"/>
                </a:solidFill>
                <a:latin typeface="Aptos"/>
              </a:rPr>
              <a:t>SPEC'26  •  CCSDS Telemetry Frame Synchronizer  •  Levels 1–3</a:t>
            </a:r>
          </a:p>
        </p:txBody>
      </p:sp>
      <p:sp>
        <p:nvSpPr>
          <p:cNvPr id="8" name="TextBox 25"/>
          <p:cNvSpPr txBox="1"/>
          <p:nvPr/>
        </p:nvSpPr>
        <p:spPr>
          <a:xfrm>
            <a:off x="11247120" y="6510528"/>
            <a:ext cx="384048" cy="228600"/>
          </a:xfrm>
          <a:prstGeom prst="rect">
            <a:avLst/>
          </a:prstGeom>
          <a:noFill/>
        </p:spPr>
        <p:txBody>
          <a:bodyPr wrap="square" lIns="45720" rIns="45720" anchor="t">
            <a:spAutoFit/>
          </a:bodyPr>
          <a:lstStyle/>
          <a:p>
            <a:pPr algn="r"/>
            <a:r>
              <a:rPr sz="900" b="1">
                <a:solidFill>
                  <a:srgbClr val="50C8D2"/>
                </a:solidFill>
                <a:latin typeface="Aptos"/>
              </a:rPr>
              <a:t>08</a:t>
            </a:r>
          </a:p>
        </p:txBody>
      </p:sp>
      <p:sp>
        <p:nvSpPr>
          <p:cNvPr id="9" name="Chart card"/>
          <p:cNvSpPr/>
          <p:nvPr/>
        </p:nvSpPr>
        <p:spPr>
          <a:xfrm>
            <a:off x="640080" y="1783080"/>
            <a:ext cx="6766560" cy="3749039"/>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Fmax chart"/>
          <p:cNvGraphicFramePr>
            <a:graphicFrameLocks noGrp="1"/>
          </p:cNvGraphicFramePr>
          <p:nvPr/>
        </p:nvGraphicFramePr>
        <p:xfrm>
          <a:off x="777240" y="1874519"/>
          <a:ext cx="6492240" cy="3566160"/>
        </p:xfrm>
        <a:graphic>
          <a:graphicData uri="http://schemas.openxmlformats.org/drawingml/2006/chart">
            <c:chart xmlns:c="http://schemas.openxmlformats.org/drawingml/2006/chart" r:id="rId2"/>
          </a:graphicData>
        </a:graphic>
      </p:graphicFrame>
      <p:sp>
        <p:nvSpPr>
          <p:cNvPr id="11" name="Stat card 1"/>
          <p:cNvSpPr/>
          <p:nvPr/>
        </p:nvSpPr>
        <p:spPr>
          <a:xfrm>
            <a:off x="7680960" y="1783080"/>
            <a:ext cx="3886200" cy="118872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1"/>
          <p:cNvSpPr txBox="1"/>
          <p:nvPr/>
        </p:nvSpPr>
        <p:spPr>
          <a:xfrm>
            <a:off x="7909560" y="1911095"/>
            <a:ext cx="3474720" cy="457200"/>
          </a:xfrm>
          <a:prstGeom prst="rect">
            <a:avLst/>
          </a:prstGeom>
          <a:noFill/>
        </p:spPr>
        <p:txBody>
          <a:bodyPr wrap="square" lIns="45720" rIns="45720" anchor="t">
            <a:noAutofit/>
          </a:bodyPr>
          <a:lstStyle/>
          <a:p>
            <a:pPr algn="l"/>
            <a:r>
              <a:rPr sz="2600" b="1">
                <a:solidFill>
                  <a:srgbClr val="F8FAFC"/>
                </a:solidFill>
                <a:latin typeface="Aptos"/>
              </a:rPr>
              <a:t>909</a:t>
            </a:r>
          </a:p>
        </p:txBody>
      </p:sp>
      <p:sp>
        <p:nvSpPr>
          <p:cNvPr id="13" name="Stat 1 caption"/>
          <p:cNvSpPr txBox="1"/>
          <p:nvPr/>
        </p:nvSpPr>
        <p:spPr>
          <a:xfrm>
            <a:off x="7927848" y="2423160"/>
            <a:ext cx="3474720" cy="457200"/>
          </a:xfrm>
          <a:prstGeom prst="rect">
            <a:avLst/>
          </a:prstGeom>
          <a:noFill/>
        </p:spPr>
        <p:txBody>
          <a:bodyPr wrap="square" lIns="45720" rIns="45720" anchor="t">
            <a:noAutofit/>
          </a:bodyPr>
          <a:lstStyle/>
          <a:p>
            <a:pPr algn="l"/>
            <a:r>
              <a:rPr sz="1100" b="0">
                <a:solidFill>
                  <a:srgbClr val="B4C4D6"/>
                </a:solidFill>
                <a:latin typeface="Aptos"/>
              </a:rPr>
              <a:t>logic cells, 11 % of an iCE40 HX8K</a:t>
            </a:r>
          </a:p>
        </p:txBody>
      </p:sp>
      <p:sp>
        <p:nvSpPr>
          <p:cNvPr id="14" name="Stat card 2"/>
          <p:cNvSpPr/>
          <p:nvPr/>
        </p:nvSpPr>
        <p:spPr>
          <a:xfrm>
            <a:off x="7680960" y="3108960"/>
            <a:ext cx="3886200" cy="118872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 2"/>
          <p:cNvSpPr txBox="1"/>
          <p:nvPr/>
        </p:nvSpPr>
        <p:spPr>
          <a:xfrm>
            <a:off x="7909560" y="3236976"/>
            <a:ext cx="3474720" cy="457200"/>
          </a:xfrm>
          <a:prstGeom prst="rect">
            <a:avLst/>
          </a:prstGeom>
          <a:noFill/>
        </p:spPr>
        <p:txBody>
          <a:bodyPr wrap="square" lIns="45720" rIns="45720" anchor="t">
            <a:noAutofit/>
          </a:bodyPr>
          <a:lstStyle/>
          <a:p>
            <a:pPr algn="l"/>
            <a:r>
              <a:rPr sz="2000" b="1">
                <a:solidFill>
                  <a:srgbClr val="F8FAFC"/>
                </a:solidFill>
                <a:latin typeface="Aptos"/>
              </a:rPr>
              <a:t>≈ 750 LUTs • 357 FFs</a:t>
            </a:r>
          </a:p>
        </p:txBody>
      </p:sp>
      <p:sp>
        <p:nvSpPr>
          <p:cNvPr id="16" name="Stat 2 caption"/>
          <p:cNvSpPr txBox="1"/>
          <p:nvPr/>
        </p:nvSpPr>
        <p:spPr>
          <a:xfrm>
            <a:off x="7927848" y="3749039"/>
            <a:ext cx="3474720" cy="457200"/>
          </a:xfrm>
          <a:prstGeom prst="rect">
            <a:avLst/>
          </a:prstGeom>
          <a:noFill/>
        </p:spPr>
        <p:txBody>
          <a:bodyPr wrap="square" lIns="45720" rIns="45720" anchor="t">
            <a:noAutofit/>
          </a:bodyPr>
          <a:lstStyle/>
          <a:p>
            <a:pPr algn="l"/>
            <a:r>
              <a:rPr sz="1100" b="0">
                <a:solidFill>
                  <a:srgbClr val="B4C4D6"/>
                </a:solidFill>
                <a:latin typeface="Aptos"/>
              </a:rPr>
              <a:t>Xilinx 7-series mapping estimate (Yosys, no timing)</a:t>
            </a:r>
          </a:p>
        </p:txBody>
      </p:sp>
      <p:sp>
        <p:nvSpPr>
          <p:cNvPr id="17" name="Stat card 3"/>
          <p:cNvSpPr/>
          <p:nvPr/>
        </p:nvSpPr>
        <p:spPr>
          <a:xfrm>
            <a:off x="7680960" y="4434840"/>
            <a:ext cx="3886200" cy="1097280"/>
          </a:xfrm>
          <a:prstGeom prst="roundRect">
            <a:avLst/>
          </a:prstGeom>
          <a:solidFill>
            <a:srgbClr val="162A46"/>
          </a:solidFill>
          <a:ln>
            <a:solidFill>
              <a:srgbClr val="16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 3"/>
          <p:cNvSpPr txBox="1"/>
          <p:nvPr/>
        </p:nvSpPr>
        <p:spPr>
          <a:xfrm>
            <a:off x="7909560" y="4562855"/>
            <a:ext cx="3474720" cy="457200"/>
          </a:xfrm>
          <a:prstGeom prst="rect">
            <a:avLst/>
          </a:prstGeom>
          <a:noFill/>
        </p:spPr>
        <p:txBody>
          <a:bodyPr wrap="square" lIns="45720" rIns="45720" anchor="t">
            <a:noAutofit/>
          </a:bodyPr>
          <a:lstStyle/>
          <a:p>
            <a:pPr algn="l"/>
            <a:r>
              <a:rPr sz="2200" b="1">
                <a:solidFill>
                  <a:srgbClr val="40AB81"/>
                </a:solidFill>
                <a:latin typeface="Aptos"/>
              </a:rPr>
              <a:t>69.9–80.2 MHz</a:t>
            </a:r>
          </a:p>
        </p:txBody>
      </p:sp>
      <p:sp>
        <p:nvSpPr>
          <p:cNvPr id="19" name="Stat 3 caption"/>
          <p:cNvSpPr txBox="1"/>
          <p:nvPr/>
        </p:nvSpPr>
        <p:spPr>
          <a:xfrm>
            <a:off x="7927848" y="5074920"/>
            <a:ext cx="3474720" cy="457200"/>
          </a:xfrm>
          <a:prstGeom prst="rect">
            <a:avLst/>
          </a:prstGeom>
          <a:noFill/>
        </p:spPr>
        <p:txBody>
          <a:bodyPr wrap="square" lIns="45720" rIns="45720" anchor="t">
            <a:noAutofit/>
          </a:bodyPr>
          <a:lstStyle/>
          <a:p>
            <a:pPr algn="l"/>
            <a:r>
              <a:rPr sz="1100" b="0">
                <a:solidFill>
                  <a:srgbClr val="B4C4D6"/>
                </a:solidFill>
                <a:latin typeface="Aptos"/>
              </a:rPr>
              <a:t>post-route, 5 seeds: 50 MHz target met</a:t>
            </a:r>
          </a:p>
        </p:txBody>
      </p:sp>
      <p:sp>
        <p:nvSpPr>
          <p:cNvPr id="20" name="Honesty banner"/>
          <p:cNvSpPr/>
          <p:nvPr/>
        </p:nvSpPr>
        <p:spPr>
          <a:xfrm>
            <a:off x="640080" y="5760720"/>
            <a:ext cx="10927080" cy="548640"/>
          </a:xfrm>
          <a:prstGeom prst="roundRect">
            <a:avLst/>
          </a:prstGeom>
          <a:solidFill>
            <a:srgbClr val="1F3653"/>
          </a:solidFill>
          <a:ln>
            <a:solidFill>
              <a:srgbClr val="1F3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onesty banner text"/>
          <p:cNvSpPr txBox="1"/>
          <p:nvPr/>
        </p:nvSpPr>
        <p:spPr>
          <a:xfrm>
            <a:off x="822960" y="5833872"/>
            <a:ext cx="10561320" cy="365760"/>
          </a:xfrm>
          <a:prstGeom prst="rect">
            <a:avLst/>
          </a:prstGeom>
          <a:noFill/>
        </p:spPr>
        <p:txBody>
          <a:bodyPr wrap="square" lIns="45720" rIns="45720" anchor="t">
            <a:noAutofit/>
          </a:bodyPr>
          <a:lstStyle/>
          <a:p>
            <a:pPr algn="ctr"/>
            <a:r>
              <a:rPr sz="1400" b="1">
                <a:solidFill>
                  <a:srgbClr val="F8FAFC"/>
                </a:solidFill>
                <a:latin typeface="Aptos"/>
              </a:rPr>
              <a:t>Open-source flow results, not Vivado. A Vivado script is included in the 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